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4"/>
  </p:notesMasterIdLst>
  <p:sldIdLst>
    <p:sldId id="256" r:id="rId2"/>
    <p:sldId id="326" r:id="rId3"/>
    <p:sldId id="337" r:id="rId4"/>
    <p:sldId id="259" r:id="rId5"/>
    <p:sldId id="335" r:id="rId6"/>
    <p:sldId id="338" r:id="rId7"/>
    <p:sldId id="260" r:id="rId8"/>
    <p:sldId id="261" r:id="rId9"/>
    <p:sldId id="264" r:id="rId10"/>
    <p:sldId id="265" r:id="rId11"/>
    <p:sldId id="266" r:id="rId12"/>
    <p:sldId id="267" r:id="rId13"/>
    <p:sldId id="322" r:id="rId14"/>
    <p:sldId id="330" r:id="rId15"/>
    <p:sldId id="317" r:id="rId16"/>
    <p:sldId id="323" r:id="rId17"/>
    <p:sldId id="324" r:id="rId18"/>
    <p:sldId id="325" r:id="rId19"/>
    <p:sldId id="329" r:id="rId20"/>
    <p:sldId id="287" r:id="rId21"/>
    <p:sldId id="288" r:id="rId22"/>
    <p:sldId id="289" r:id="rId23"/>
    <p:sldId id="290" r:id="rId24"/>
    <p:sldId id="318" r:id="rId25"/>
    <p:sldId id="291" r:id="rId26"/>
    <p:sldId id="327" r:id="rId27"/>
    <p:sldId id="336" r:id="rId28"/>
    <p:sldId id="282" r:id="rId29"/>
    <p:sldId id="283" r:id="rId30"/>
    <p:sldId id="328" r:id="rId31"/>
    <p:sldId id="285" r:id="rId32"/>
    <p:sldId id="286" r:id="rId33"/>
    <p:sldId id="293" r:id="rId34"/>
    <p:sldId id="294" r:id="rId35"/>
    <p:sldId id="295" r:id="rId36"/>
    <p:sldId id="320" r:id="rId37"/>
    <p:sldId id="297" r:id="rId38"/>
    <p:sldId id="321" r:id="rId39"/>
    <p:sldId id="319" r:id="rId40"/>
    <p:sldId id="298" r:id="rId41"/>
    <p:sldId id="299" r:id="rId42"/>
    <p:sldId id="300" r:id="rId43"/>
    <p:sldId id="301" r:id="rId44"/>
    <p:sldId id="302" r:id="rId45"/>
    <p:sldId id="303" r:id="rId46"/>
    <p:sldId id="331" r:id="rId47"/>
    <p:sldId id="334" r:id="rId48"/>
    <p:sldId id="307" r:id="rId49"/>
    <p:sldId id="308" r:id="rId50"/>
    <p:sldId id="309" r:id="rId51"/>
    <p:sldId id="332" r:id="rId52"/>
    <p:sldId id="258" r:id="rId53"/>
    <p:sldId id="292" r:id="rId54"/>
    <p:sldId id="257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33" r:id="rId6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36" autoAdjust="0"/>
    <p:restoredTop sz="80849" autoAdjust="0"/>
  </p:normalViewPr>
  <p:slideViewPr>
    <p:cSldViewPr snapToGrid="0" snapToObjects="1">
      <p:cViewPr varScale="1">
        <p:scale>
          <a:sx n="123" d="100"/>
          <a:sy n="123" d="100"/>
        </p:scale>
        <p:origin x="192" y="28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4T22:21:56.0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2648 303 8191,'-57'-40'0,"-21"-5"2531,19 17 1,-3 0-2532,10 7 0,1 2 2818,-42-10-2818,35 19 1719,11 7-1719,-9 3 6784,-7 5-6784,-4 7 0,-6 10 0,-4 9 0,9-2 0,-18 13 0,2 0 0,31-12 0,-3 3 0,-5 3 0,0 1 0,0 3 0,1 0 0,1 0 0,0 0 0,3 2 0,1 0 0,6-1 0,0 1 0,-1 4 0,2 2 0,1 0 0,3 1 0,3-5 0,2 1 0,-3 4 0,0 1 0,5-1 0,0 0 0,-2 6 0,0 2 0,5-3 0,1 0 0,2 1 0,3 1 0,4-5 0,2 1 0,1 4 0,2 1 0,0 6 0,2 0 0,2 1 0,1 1 0,0-3 0,2-1 0,3-6 0,1-2 0,-1 34 0,5 10 0,4-9 0,0-36 0,1 0 0,2 42 0,0-15 0,-1-12 0,0-4 0,-2 0 0,1 10 0,1 6 0,0-8 0,0-3 0,-1 4 0,3 6 0,0-27 0,3 3 0,5 6 0,3 2 0,3 2 0,4-1 0,11 4 0,7-1 0,13 5 0,7-2 0,4-2 0,5-1 0,-15-19 0,2 0 0,-2-3 0,2 2 0,1-4 0,-1-7 0,5 0 0,-2-6 0,5-3 0,4-3 0,-1 0 0,7 0 0,-3-3 0,19 0 0,1-3-468,-18-6 0,3 0 0,4-1 468,-7-2 0,3-1 0,2 0 0,2 1-555,9-1 1,2 1 0,2-1 0,2 0 554,-10-1 0,3-1 0,0 0 0,0-1 0,-2-1 0,14-1 0,-1-1 0,-3-2 0,-2-4-187,-12-4 1,-1-1 0,-4-4 0,-4-4 186,9-7 0,-6-5 0,-7-7-50,-12-8 0,-7-5 0,-5-3 50,8-19 0,-8-7 0,-12 11 0,-4-5 0,0-1 46,0-1 0,-2-1 0,0-3-46,-2 9 0,0-2 0,0-1 0,-1-1 0,-2 2 0,-1-2 0,-2 1 0,0 0 0,2-18 0,-2 1 0,-3-2 0,-4-3 0,-3-1 0,-3 1 0,-1 8 0,-4 1 0,-3-3 0,-3 12 0,-2-2 0,-3 0 0,-2 0 0,-1 4 0,-2 1 0,-2 1 0,-1 0 0,-11-23 0,-3 1 0,-2 5 0,2 12 0,-1 5 0,-1 3 942,-12-17 0,-3 5-942,-8 3 0,-7 2 0,8 21 0,-5 0 0,-2 0-48,-8-5 1,-2 0 0,-1 2 47,-2 2 0,-2 1 0,2 5 0,10 7 0,1 4 0,0 2-83,1 5 0,0 2 0,0 3 83,2 5 0,-1 3 0,-6-1 0,-9-1 0,-7-1 0,-3 1 0,2 1-16,4 3 0,1 2 0,0 0 1,0 0 15,1 0 0,0 0 0,2 1 0,5 2 0,-2-1 0,5 1 0,8 5 227,-36 7-227,22 14 969,0 12-969,5 4 442,31-7-442,15-6 1310,20-11-1310,2-1 0,2-1 0,-29 19 0,-12 17 0,2-8 0,6 2 0,32-31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4T22:21:58.2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1258 24575,'9'-16'0,"14"-14"0,29-22 0,-7 9 0,6-2 0,14-8 0,5-1 0,-17 12 0,1-1 0,1 1 0,23-15 0,-2 2 0,-6 2 0,-4 2 0,-14 9 0,-3 0 0,-4 1 0,-2 1 0,21-26 0,-1-1 0,-21 23 0,10-6 0,-24 25 0,2-2 0,-21 19 0,-4 3 0,-5 4 0,2-1 0,3-4 0,7-5 0,8-6 0,8-5 0,6-4 0,-7 7 0,-7 4 0,-14 10 0,-5 5 0,-9 3 0,-12 4 0,-21 9 0,-15 8 0,-3 2 0,9-2 0,14-7 0,10-6 0,8-6 0,5-2 0,8-3 0,3 0 0,-1 1 0,3-1 0,9-5 0,27-15 0,24-14 0,12-2 0,6 1 0,-16 12 0,-22 10 0,-12 4 0,-23 7 0,-3 1 0,-2 6 0,0 19 0,0 10 0,0 30 0,0-14 0,1 5 0,1 15 0,1 4 0,-2 3 0,1-2 0,0-14 0,0-7 0,-1 6 0,2-46 0,-1-13 0,1 2 0,-3-3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8:43:40.2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3080 587 16375,'-8'-5'0,"1"0"3579,-1-1-3579,-4-4 1411,-3-2-1411,-4-5 752,-4-2-752,-7-4 2458,-1 3-2458,-14-6 0,-17-3 0,17 11 0,-5 0-497,-10-4 0,-3 1 497,-2 1 0,-1 0 0,-3-1 0,0 1 0,-2 0 0,-1 0 0,-4-2 0,2 2 0,12 3 0,1 1 0,2 0 0,2 2-106,-21-6 106,-1 2 0,-10 0 0,6 4 0,-10 2 0,10 3 0,2 2 0,20 4 0,1 0 0,4 2 0,4-1 989,0 1-989,17 0 111,-1 1-111,4 0 0,-4 2 0,0 1 0,-4 3 0,-3 3 0,0 3 0,-2 3 0,7 0 0,-4 4 0,3-1 0,-3 4 0,4 0 0,4 0 0,7 0 0,0 5 0,0 4 0,1 2 0,-2 4 0,2 3 0,-2 0 0,-1 1 0,5-5 0,4-7 0,2 4 0,1 1 0,2 3 0,2 0 0,4 4 0,0 7 0,5-5 0,0 5 0,2-18 0,1 4 0,0 0 0,1 1 0,1 3 0,3-1 0,3 5 0,7 2 0,3 4 0,1-11 0,5 3 0,3-2 0,8 4 0,13 10 0,5-5 0,11 6 0,-7-11 0,4-1 0,-13-13 0,3 0 0,-5-6 0,16 3 0,16 5 0,-8-3-735,-14-8 0,-1 0 735,20 7 0,8 3 0,-12-8 0,11-7-30,-12-8 30,4-1 0,2-1 0,-2 1 0,0 0 0,-3-2 0,2-2 0,5-3 0,2-6 0,3-4-654,13-7 654,-45 9 0,0-2 0,36-9 1214,-3-2-1214,-15-3 0,-5 2 31,0-2-31,-13 6 0,-2 1 0,5-1 699,9-3-699,2-1 0,3-2 0,8-11-237,7-6 237,-4-7 0,-9 4 0,-31 12 0,-8 0 0,-11-1 0,-3-1 0,-2-2 0,-6-12 447,-3 0-447,-4-18 0,-4 5 0,-6 3 0,-4-1 0,-5 1 0,-1 2 0,0 0 0,4 11 0,3 7 0,-10-15 0,12 29 0,-9-13 0,12 28 0,0 2 0,2 1 0,2 5 0,-1 2 0,-2 1 0,-16 0 0,-4 0 0,-13 0 0,6 1 0,5 0 0,10-1 0,6 0 0,4 0 0,0 0 0,2 0 0,0 0 0,2 1 0,-1-1 0,-1 1 0,0 0 0,-1 0 0,-4 2 0,-2 1 0,-20 6-1696,3-2 0,1-2 0,13-2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4T23:10:30.1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752 525 24575,'55'-10'0,"30"-3"0,-30 5 0,5-1 0,19-2 0,4 1 0,-7 0 0,0 1 0,4 0 0,0 1 0,-2 1 0,0 0 0,-7 2 0,-1 0 0,0 1 0,-1-1 0,5 1 0,-2 0 0,-16 0 0,0 0 0,16-2 0,-1-1 0,-18 2 0,-1-1 0,3 0 0,0-1 0,-4 1 0,1-1 0,-3 0 0,2 0 0,1 0 0,1 0 0,-3 0 0,0 0 0,48-7 0,-1 5 0,-48 3 0,1 1 0,9 0 0,2 0 0,7-2 0,3-1 0,11 0 0,3-2 0,-2 1 0,0-2 0,2 1 0,-2 0 0,-9 1 0,-2 0 0,-4 0 0,-1 1 0,-4 0 0,1 1 0,4-1 0,1 1 0,-2 0 0,2 1 0,7 0 0,1-1 0,-5 1 0,0 1 0,-5 1 0,0 0 0,13 0 0,4 1 0,9 1 0,4 0-237,-26 1 0,1 0 0,2 0 237,7 0 0,0 0 0,1 0 0,-3 0 0,0 0 0,-1-1 0,-1 0 0,-1 0 0,-1-1 0,-1 0 0,-2 1 0,-1 0-86,22-2 1,-1 0 85,6 1 0,-1 1 0,-11-1 0,-1 1 0,4 0 0,1 1 0,-4-1 0,1 2 0,7-1 0,3 1 0,-24-1 0,1 1 0,2 1-209,2-1 0,1 0 0,0 1 209,1-1 0,-1 1 0,2 0 0,7 0 0,1 1 0,0-1-441,4 1 0,0 0 0,2-1 441,-18 1 0,1-1 0,2 0 0,-1 1 0,4-1 0,-1 0 0,1 1 0,2-1-277,4 1 0,1-1 0,0 0 1,0 0 276,-2 1 0,-1-1 0,0-1 0,1 1 0,3 0 0,1-1 0,-1 1 0,-2-1-246,-11 0 1,-1-1-1,-1 1 1,0 0 245,2-1 0,1 1 0,-2 0 0,0-1 0,14 1 0,-1 0 0,1 0 0,-17 0 0,1 0 0,1 1 0,0-1 0,0 0 0,0 1 0,1-1 0,0 1 0,6-1 0,1 1 0,0-1 0,-1 1 0,-4-1 0,0 0 0,-1 0 0,-1 0 0,19 1 0,-2-1 0,-1 0-32,-10-1 0,-1 1 1,-1 0 31,-5 0 0,-1 1 0,1 0 0,12 0 0,2 1 0,1 0 0,2 1 0,2 0 0,0 1 0,2 0 0,2 1 0,-2 0 0,-4 0 0,-1 0 0,-4 0 0,-14-1 0,-3-1 0,-2 1 558,20 1 1,-2 1-559,2 1 0,-2 0 0,-10 0 0,-1 1 873,13 2 0,0 1-873,-8 0 0,-3 0 663,-12 0 1,-2 0-664,-1 0 0,-2 1 387,-3 0 0,-3 1-387,35 7 52,5 1-52,-10 0 0,-20-6 0,16 8 0,-25-2 0,9 4 0,4 8 0,1 2 0,7 3 0,-14-6 0,-24-13 0,-24-7 0,-13-1 0,-7 8 0,-8 11 0,-8 10 0,-11 13 0,-8 3 0,13-23 0,-2-1 0,-2-2 0,-2 0 0,-8 2 0,-1-1 0,4-3 0,0-2 0,-4 1 0,-1-2 0,-26 10 0,3-6 0,-2-7 0,-2-3 0,-18 0 0,20-10 0,-9-1 0,5-2 0,-5-2 0,-4 1-458,5-2 0,-5 0 1,-2 0-1,0 0 458,-6 0 0,-1 0 0,-1 0 0,2-1 0,6 1 0,0-1 0,2 0 0,0 0 0,3 1 0,1-1 0,1 0 0,0 0 0,-22-1 0,1-1 0,-3 0 0,18-1 0,-3-1 0,0 0 0,0 0 0,-4-1 0,0 0 0,0 1 0,2-1 0,-15-1 0,2 1 0,4-1 0,12 2 0,4 0 0,5 1 0,-4 1 0,5 1 0,5 0 0,-1 0 0,-1 0 0,-5 0 0,8-1 0,-4 0 0,-1 0-190,1 0 1,-1 0-1,-2 0 190,-12-1 0,-2 1 0,0-1 0,3 0 0,2 1 0,0 0 0,0-1 0,2 1 0,-1-1 0,2 1 0,0 0 0,-2 0 0,-7 0 0,-3-1 0,1 1 259,-2-2 0,0 1 1,0-1-260,2 1 0,0 0 0,3 0 0,8 0 0,2-1 0,6 1 0,-9 0 0,6 1 0,10 1 0,1-1 0,-2 0 0,-1 0 0,1 1 0,-3-1 0,-15 0 0,0-1 296,7 1 1,0 0-297,-7-1 0,-2 1 0,5 0 0,-2 0 0,-7-1 0,-3 0 0,26 1 0,-3 0 0,0-1 0,-5 1 0,-1-1 0,2 1 0,7-1 0,2 1 0,-1-1 0,-5 2 0,-2-1 0,3 1 0,-17 0 0,1 1 514,-5-1 1,1 1-515,11 0 0,1 0 0,-4 0 0,1 0 0,7 1 0,-1 0 0,-10 0 0,-2-1 0,7 0 0,-1 0 0,-8-1 0,-2 0 0,-3-1 0,-2-1 0,28 1 0,0 0 0,1 0 0,-27 0 0,1 0 0,-5 1 0,2-1 0,13 1 0,1 0 0,-2 0 0,0 0 0,5-1 0,0 1 0,5-1 0,-1 1 0,-3 0 0,1-1 0,4 0 0,0 1 0,4-1 0,-3 0 0,-17-1 0,-3 0 0,9 0 0,0-1 0,-12 0 0,1-1 0,8 1 0,3 0 0,5 0 0,1 1 0,2 0 0,0 0 0,-3 0 0,0 0 0,5 0 0,1-1 0,4 1 0,1 0 0,-1 0 0,-1 1 0,-2-1 0,0 1 0,10 0 0,-1-1 0,-14 1 0,-1 0 0,5-1 0,0 1 0,-3-1 0,-1 1 0,5-1 0,3 1 0,11-1 0,3 1 0,-34 0 0,37 0 0,0 0 0,1 1 0,1-1 0,-49 0 0,1 1 0,32 0 0,5 1 0,0-2 0,0 1 0,-27-4 0,36 2 0,-2-2 0,-14-2 0,-2-1 0,-3 1 0,0-1 0,4 0 0,3 0 0,9 2 0,4 0 0,-21-1 0,28 2 0,10 0 0,10-2 0,5-4 0,-6-9 0,-6-11 0,-19-19 0,-2-5 0,11 6 0,19 6 0,29 10 0,12-6 0,1 6 0,2 3 0,0 9 0,20-3 0,6 2 0,22-5 0,12 3 0,-23 11 0,4 1 0,7-1 0,0 0 0,-6 2 0,-2 0 0,-5 1 0,-4 0 0,31-6 0,-23 4 0,-6 2 0,-31 6 0,-18 1 0,-1 1 0,-1 0 0,0 0 0,13-1 0,6-1 0,-3 1 0,-3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4T23:10:50.1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752 525 24575,'55'-10'0,"30"-3"0,-30 5 0,5-1 0,19-2 0,4 1 0,-7 0 0,0 1 0,4 0 0,0 1 0,-2 1 0,0 0 0,-7 2 0,-1 0 0,0 1 0,-1-1 0,5 1 0,-2 0 0,-16 0 0,0 0 0,16-2 0,-1-1 0,-18 2 0,-1-1 0,3 0 0,0-1 0,-4 1 0,1-1 0,-3 0 0,2 0 0,1 0 0,1 0 0,-3 0 0,0 0 0,48-7 0,-1 5 0,-48 3 0,1 1 0,9 0 0,2 0 0,7-2 0,3-1 0,11 0 0,3-2 0,-2 1 0,0-2 0,2 1 0,-2 0 0,-9 1 0,-2 0 0,-4 0 0,-1 1 0,-4 0 0,1 1 0,4-1 0,1 1 0,-2 0 0,2 1 0,7 0 0,1-1 0,-5 1 0,0 1 0,-5 1 0,0 0 0,13 0 0,4 1 0,9 1 0,4 0-237,-26 1 0,1 0 0,2 0 237,7 0 0,0 0 0,1 0 0,-3 0 0,0 0 0,-1-1 0,-1 0 0,-1 0 0,-1-1 0,-1 0 0,-2 1 0,-1 0-86,22-2 1,-1 0 85,6 1 0,-1 1 0,-11-1 0,-1 1 0,4 0 0,1 1 0,-4-1 0,1 2 0,7-1 0,3 1 0,-24-1 0,1 1 0,2 1-209,2-1 0,1 0 0,0 1 209,1-1 0,-1 1 0,2 0 0,7 0 0,1 1 0,0-1-441,4 1 0,0 0 0,2-1 441,-18 1 0,1-1 0,2 0 0,-1 1 0,4-1 0,-1 0 0,1 1 0,2-1-277,4 1 0,1-1 0,0 0 1,0 0 276,-2 1 0,-1-1 0,0-1 0,1 1 0,3 0 0,1-1 0,-1 1 0,-2-1-246,-11 0 1,-1-1-1,-1 1 1,0 0 245,2-1 0,1 1 0,-2 0 0,0-1 0,14 1 0,-1 0 0,1 0 0,-17 0 0,1 0 0,1 1 0,0-1 0,0 0 0,0 1 0,1-1 0,0 1 0,6-1 0,1 1 0,0-1 0,-1 1 0,-4-1 0,0 0 0,-1 0 0,-1 0 0,19 1 0,-2-1 0,-1 0-32,-10-1 0,-1 1 1,-1 0 31,-5 0 0,-1 1 0,1 0 0,12 0 0,2 1 0,1 0 0,2 1 0,2 0 0,0 1 0,2 0 0,2 1 0,-2 0 0,-4 0 0,-1 0 0,-4 0 0,-14-1 0,-3-1 0,-2 1 558,20 1 1,-2 1-559,2 1 0,-2 0 0,-10 0 0,-1 1 873,13 2 0,0 1-873,-8 0 0,-3 0 663,-12 0 1,-2 0-664,-1 0 0,-2 1 387,-3 0 0,-3 1-387,35 7 52,5 1-52,-10 0 0,-20-6 0,16 8 0,-25-2 0,9 4 0,4 8 0,1 2 0,7 3 0,-14-6 0,-24-13 0,-24-7 0,-13-1 0,-7 8 0,-8 11 0,-8 10 0,-11 13 0,-8 3 0,13-23 0,-2-1 0,-2-2 0,-2 0 0,-8 2 0,-1-1 0,4-3 0,0-2 0,-4 1 0,-1-2 0,-26 10 0,3-6 0,-2-7 0,-2-3 0,-18 0 0,20-10 0,-9-1 0,5-2 0,-5-2 0,-4 1-458,5-2 0,-5 0 1,-2 0-1,0 0 458,-6 0 0,-1 0 0,-1 0 0,2-1 0,6 1 0,0-1 0,2 0 0,0 0 0,3 1 0,1-1 0,1 0 0,0 0 0,-22-1 0,1-1 0,-3 0 0,18-1 0,-3-1 0,0 0 0,0 0 0,-4-1 0,0 0 0,0 1 0,2-1 0,-15-1 0,2 1 0,4-1 0,12 2 0,4 0 0,5 1 0,-4 1 0,5 1 0,5 0 0,-1 0 0,-1 0 0,-5 0 0,8-1 0,-4 0 0,-1 0-190,1 0 1,-1 0-1,-2 0 190,-12-1 0,-2 1 0,0-1 0,3 0 0,2 1 0,0 0 0,0-1 0,2 1 0,-1-1 0,2 1 0,0 0 0,-2 0 0,-7 0 0,-3-1 0,1 1 259,-2-2 0,0 1 1,0-1-260,2 1 0,0 0 0,3 0 0,8 0 0,2-1 0,6 1 0,-9 0 0,6 1 0,10 1 0,1-1 0,-2 0 0,-1 0 0,1 1 0,-3-1 0,-15 0 0,0-1 296,7 1 1,0 0-297,-7-1 0,-2 1 0,5 0 0,-2 0 0,-7-1 0,-3 0 0,26 1 0,-3 0 0,0-1 0,-5 1 0,-1-1 0,2 1 0,7-1 0,2 1 0,-1-1 0,-5 2 0,-2-1 0,3 1 0,-17 0 0,1 1 514,-5-1 1,1 1-515,11 0 0,1 0 0,-4 0 0,1 0 0,7 1 0,-1 0 0,-10 0 0,-2-1 0,7 0 0,-1 0 0,-8-1 0,-2 0 0,-3-1 0,-2-1 0,28 1 0,0 0 0,1 0 0,-27 0 0,1 0 0,-5 1 0,2-1 0,13 1 0,1 0 0,-2 0 0,0 0 0,5-1 0,0 1 0,5-1 0,-1 1 0,-3 0 0,1-1 0,4 0 0,0 1 0,4-1 0,-3 0 0,-17-1 0,-3 0 0,9 0 0,0-1 0,-12 0 0,1-1 0,8 1 0,3 0 0,5 0 0,1 1 0,2 0 0,0 0 0,-3 0 0,0 0 0,5 0 0,1-1 0,4 1 0,1 0 0,-1 0 0,-1 1 0,-2-1 0,0 1 0,10 0 0,-1-1 0,-14 1 0,-1 0 0,5-1 0,0 1 0,-3-1 0,-1 1 0,5-1 0,3 1 0,11-1 0,3 1 0,-34 0 0,37 0 0,0 0 0,1 1 0,1-1 0,-49 0 0,1 1 0,32 0 0,5 1 0,0-2 0,0 1 0,-27-4 0,36 2 0,-2-2 0,-14-2 0,-2-1 0,-3 1 0,0-1 0,4 0 0,3 0 0,9 2 0,4 0 0,-21-1 0,28 2 0,10 0 0,10-2 0,5-4 0,-6-9 0,-6-11 0,-19-19 0,-2-5 0,11 6 0,19 6 0,29 10 0,12-6 0,1 6 0,2 3 0,0 9 0,20-3 0,6 2 0,22-5 0,12 3 0,-23 11 0,4 1 0,7-1 0,0 0 0,-6 2 0,-2 0 0,-5 1 0,-4 0 0,31-6 0,-23 4 0,-6 2 0,-31 6 0,-18 1 0,-1 1 0,-1 0 0,0 0 0,13-1 0,6-1 0,-3 1 0,-3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1468D2-BF3B-E74D-AEA7-6BD00F69ACC5}" type="datetimeFigureOut">
              <a:rPr lang="en-US" smtClean="0"/>
              <a:t>5/22/26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E6C8C8-06DD-9946-B8CF-B9202E80B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487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E6C8C8-06DD-9946-B8CF-B9202E80B0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647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0AC2F-8154-32B2-E73E-3D312794C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8CA335-9323-6D58-C358-1EB882C20A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9E15BB-E0E0-7201-2E0B-74198E953D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4F239-9546-C382-89E8-4929A6C4CF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E6C8C8-06DD-9946-B8CF-B9202E80B0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5707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Step 1 — Predict the age of 50%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model's linear predictor for kid 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𝑖</m:t>
                    </m:r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word 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𝑗</m:t>
                    </m:r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age 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𝑡</m:t>
                    </m:r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𝜂</m:t>
                          </m:r>
                        </m:e>
                        <m:sub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𝑖𝑗</m:t>
                          </m:r>
                        </m:sub>
                      </m:sSub>
                      <m:d>
                        <m:dPr>
                          <m:ctrlP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</m:d>
                      <m:r>
                        <m:rPr>
                          <m:nor/>
                        </m:rPr>
                        <a:rPr lang="en-US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  </m:t>
                      </m:r>
                      <m:r>
                        <a:rPr lang="en-US" sz="1200" b="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  </m:t>
                      </m:r>
                      <m:sSub>
                        <m:sSubPr>
                          <m:ctrlP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𝜉</m:t>
                          </m:r>
                        </m:e>
                        <m:sub>
                          <m: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𝑖</m:t>
                          </m:r>
                        </m:sub>
                      </m:sSub>
                      <m:r>
                        <a:rPr lang="en-US" sz="1200" b="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𝜅</m:t>
                          </m:r>
                        </m:e>
                        <m:sub>
                          <m: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𝑖</m:t>
                          </m:r>
                        </m:sub>
                      </m:sSub>
                      <m:r>
                        <a:rPr lang="en-US" sz="1200" b="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1200" b="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log</m:t>
                      </m:r>
                      <m:r>
                        <a:rPr lang="en-US" sz="1200" b="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⁡</m:t>
                      </m:r>
                      <m:d>
                        <m:dPr>
                          <m:ctrlP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lang="en-US" sz="1200" b="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sz="1200" b="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1200" b="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200" b="0" i="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1200" b="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+</m:t>
                      </m:r>
                      <m:func>
                        <m:funcPr>
                          <m:ctrlP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b="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log</m:t>
                          </m:r>
                        </m:fName>
                        <m:e>
                          <m: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𝐻</m:t>
                          </m:r>
                        </m:e>
                      </m:func>
                      <m:r>
                        <a:rPr lang="en-US" sz="1200" b="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−</m:t>
                      </m:r>
                      <m:sSub>
                        <m:sSubPr>
                          <m:ctrlP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𝛿</m:t>
                          </m:r>
                        </m:e>
                        <m:sub>
                          <m: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where: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𝜉</m:t>
                        </m:r>
                      </m:e>
                      <m:sub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=</m:t>
                    </m:r>
                    <m:func>
                      <m:funcPr>
                        <m:ctrlP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m:t>𝑖</m:t>
                            </m:r>
                          </m:sub>
                        </m:sSub>
                      </m:e>
                    </m:func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+</m:t>
                    </m:r>
                    <m:func>
                      <m:funcPr>
                        <m:ctrlP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m:t>𝑖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— kid's intercept (log input rate + log efficiency)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𝜅</m:t>
                        </m:r>
                      </m:e>
                      <m:sub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=1+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𝛿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+</m:t>
                    </m:r>
                    <m:sSub>
                      <m:sSubPr>
                        <m:ctrlP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𝜁</m:t>
                        </m:r>
                      </m:e>
                      <m:sub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— kid's effective age-growth exponent (population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δ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+ per-kid deviation)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log</m:t>
                        </m:r>
                      </m:fName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𝐻</m:t>
                        </m:r>
                      </m:e>
                    </m:func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𝑎</m:t>
                        </m:r>
                      </m:e>
                      <m:sub>
                        <m:r>
                          <a:rPr lang="en-US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— fixed constants (log-hours-per-month, reference age)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𝛿</m:t>
                        </m:r>
                      </m:e>
                      <m:sub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— fitted item difficulty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At 50% production, 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𝜂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=0</m:t>
                    </m:r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so: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  <m:sub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𝑗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  </m:t>
                      </m:r>
                      <m:r>
                        <a:rPr lang="en-US" sz="1200" b="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  </m:t>
                      </m:r>
                      <m:sSub>
                        <m:sSubPr>
                          <m:ctrlP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𝑎</m:t>
                          </m:r>
                        </m:e>
                        <m:sub>
                          <m:r>
                            <a:rPr lang="en-US" sz="1200" b="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lang="en-US" sz="1200" b="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⋅</m:t>
                      </m:r>
                      <m:func>
                        <m:funcPr>
                          <m:ctrlP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b="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exp</m:t>
                          </m:r>
                        </m:fName>
                        <m:e>
                          <m:r>
                            <m:rPr>
                              <m:nor/>
                            </m:rP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 </m:t>
                          </m:r>
                          <m:r>
                            <m:rPr>
                              <m:nor/>
                            </m:rP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⁣</m:t>
                          </m:r>
                        </m:e>
                      </m:func>
                      <m:d>
                        <m:dPr>
                          <m:ctrlP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200" b="0" i="1" kern="1200">
                                      <a:solidFill>
                                        <a:schemeClr val="tx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kern="1200">
                                      <a:solidFill>
                                        <a:schemeClr val="tx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sz="1200" b="0" i="1" kern="1200">
                                      <a:solidFill>
                                        <a:schemeClr val="tx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200" b="0" i="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US" sz="1200" b="0" i="1" kern="1200">
                                      <a:solidFill>
                                        <a:schemeClr val="tx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200" b="0" i="0" kern="1200">
                                      <a:solidFill>
                                        <a:schemeClr val="tx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1200" b="0" i="1" kern="1200">
                                      <a:solidFill>
                                        <a:schemeClr val="tx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</m:func>
                              <m:r>
                                <a:rPr lang="en-US" sz="1200" b="0" i="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200" b="0" i="1" kern="1200">
                                      <a:solidFill>
                                        <a:schemeClr val="tx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kern="1200">
                                      <a:solidFill>
                                        <a:schemeClr val="tx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US" sz="1200" b="0" i="1" kern="1200">
                                      <a:solidFill>
                                        <a:schemeClr val="tx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200" b="0" i="1" kern="1200">
                                      <a:solidFill>
                                        <a:schemeClr val="tx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kern="1200">
                                      <a:solidFill>
                                        <a:schemeClr val="tx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𝜅</m:t>
                                  </m:r>
                                </m:e>
                                <m:sub>
                                  <m:r>
                                    <a:rPr lang="en-US" sz="1200" b="0" i="1" kern="1200">
                                      <a:solidFill>
                                        <a:schemeClr val="tx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b="0" dirty="0"/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 a typical kid, I set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𝜉</m:t>
                        </m:r>
                      </m:e>
                      <m:sub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=</m:t>
                    </m:r>
                    <m:sSub>
                      <m:sSubPr>
                        <m:ctrlP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𝜇</m:t>
                        </m:r>
                      </m:e>
                      <m:sub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(mean log rate; equivalent to log α = 0) and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𝜅</m:t>
                        </m:r>
                      </m:e>
                      <m:sub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=1+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𝛿</m:t>
                    </m:r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(population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κ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with no per-kid slope deviation). Posterior medians from the EN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M_best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fit: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𝜇</m:t>
                        </m:r>
                      </m:e>
                      <m:sub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𝑟</m:t>
                        </m:r>
                      </m:sub>
                    </m:sSub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=7.34</m:t>
                    </m:r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 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𝛿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=10.3</m:t>
                    </m:r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so 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𝜅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=11.3</m:t>
                    </m:r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Step 2 — Cumulative exposures of word *j* by age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𝑡</m:t>
                        </m:r>
                      </m:e>
                      <m:sub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𝑗</m:t>
                        </m:r>
                      </m:sub>
                    </m:sSub>
                  </m:oMath>
                </a14:m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 typical kid hears 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𝑟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=</m:t>
                    </m:r>
                    <m:sSup>
                      <m:sSupPr>
                        <m:ctrlP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m:t>𝜇</m:t>
                            </m:r>
                          </m:e>
                          <m:sub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m:t>𝑟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tokens per hour ≈ 1,540 tokens/hour. Over a month, that's 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𝑟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⋅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𝐻</m:t>
                    </m:r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tokens where 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𝐻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=</m:t>
                    </m:r>
                    <m:sSup>
                      <m:sSupPr>
                        <m:ctrlP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𝑒</m:t>
                        </m:r>
                      </m:e>
                      <m:sup>
                        <m:func>
                          <m:funcPr>
                            <m:ctrlP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200" i="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m:t>𝐻</m:t>
                            </m:r>
                          </m:e>
                        </m:func>
                      </m:sup>
                    </m:sSup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=365</m:t>
                    </m:r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(waking hours per month ≈ 12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hr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/day × 30.4 days). The fraction of those tokens that ARE word 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𝑗</m:t>
                    </m:r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is its empirical CHILDES frequency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𝑝</m:t>
                        </m:r>
                      </m:e>
                      <m:sub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So by age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𝑡</m:t>
                        </m:r>
                      </m:e>
                      <m:sub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months: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US" sz="1200" b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en-US" b="0"/>
                            <m:t>  </m:t>
                          </m:r>
                          <m:sSub>
                            <m:sSubPr>
                              <m:ctrlPr>
                                <a:rPr lang="en-US" sz="1200" b="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b="0" i="1"/>
                                <m:t>𝑁</m:t>
                              </m:r>
                            </m:e>
                            <m:sub>
                              <m:r>
                                <a:rPr lang="en-US" b="0" i="1"/>
                                <m:t>𝑗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  </m:t>
                          </m:r>
                          <m:r>
                            <a:rPr lang="en-US" sz="1200" b="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  </m:t>
                          </m:r>
                          <m: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𝑟</m:t>
                          </m:r>
                          <m:r>
                            <a:rPr lang="en-US" sz="1200" b="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⋅</m:t>
                          </m:r>
                          <m: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𝐻</m:t>
                          </m:r>
                          <m:r>
                            <a:rPr lang="en-US" sz="1200" b="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1200" b="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1200" b="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200" b="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200" b="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1200" b="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1200" b="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200" b="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𝑗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  </m:t>
                          </m:r>
                        </m:e>
                      </m:borderBox>
                    </m:oMath>
                  </m:oMathPara>
                </a14:m>
                <a:endParaRPr lang="en-US" b="0" dirty="0"/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— total </a:t>
                </a:r>
                <a:r>
                  <a:rPr 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cumulative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count of times the kid has heard </a:t>
                </a:r>
                <a:r>
                  <a:rPr 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specific word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Step 3 — Plot</a:t>
                </a:r>
              </a:p>
              <a:p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en-US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m:t>𝑗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as one dot per word. y-axis on log scale because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𝑁</m:t>
                        </m:r>
                      </m:e>
                      <m:sub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spans ~10⁰ to 10⁵.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What the per-class regression lines show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 a single typical kid, 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𝑟</m:t>
                    </m:r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and 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𝐻</m:t>
                    </m:r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are constants. Taking logs: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2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𝑗</m:t>
                              </m:r>
                            </m:sub>
                          </m:sSub>
                        </m:e>
                      </m:func>
                      <m:r>
                        <m:rPr>
                          <m:nor/>
                        </m:rPr>
                        <a:rPr lang="en-US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  </m:t>
                      </m:r>
                      <m:r>
                        <a:rPr lang="en-US" sz="1200" b="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  </m:t>
                      </m:r>
                      <m:limLow>
                        <m:limLowPr>
                          <m:ctrlP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sz="1200" b="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</m:ctrlPr>
                            </m:groupChrPr>
                            <m:e>
                              <m:r>
                                <m:rPr>
                                  <m:sty m:val="p"/>
                                </m:rPr>
                                <a:rPr lang="en-US" sz="1200" b="0" i="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log</m:t>
                              </m:r>
                              <m:r>
                                <a:rPr lang="en-US" sz="1200" b="0" i="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en-US" sz="1200" b="0" i="1" kern="1200">
                                      <a:solidFill>
                                        <a:schemeClr val="tx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kern="1200">
                                      <a:solidFill>
                                        <a:schemeClr val="tx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𝑟𝐻</m:t>
                                  </m:r>
                                </m:e>
                              </m:d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constant</m:t>
                          </m:r>
                        </m:lim>
                      </m:limLow>
                      <m:r>
                        <m:rPr>
                          <m:nor/>
                        </m:rPr>
                        <a:rPr lang="en-US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  </m:t>
                      </m:r>
                      <m:r>
                        <a:rPr lang="en-US" sz="1200" b="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+</m:t>
                      </m:r>
                      <m:r>
                        <m:rPr>
                          <m:nor/>
                        </m:rPr>
                        <a:rPr lang="en-US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  </m:t>
                      </m:r>
                      <m:func>
                        <m:funcPr>
                          <m:ctrlP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b="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sz="1200" b="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1200" b="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200" b="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𝑗</m:t>
                              </m:r>
                            </m:sub>
                          </m:sSub>
                        </m:e>
                      </m:func>
                      <m:r>
                        <m:rPr>
                          <m:nor/>
                        </m:rPr>
                        <a:rPr lang="en-US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  </m:t>
                      </m:r>
                      <m:r>
                        <a:rPr lang="en-US" sz="1200" b="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+</m:t>
                      </m:r>
                      <m:r>
                        <m:rPr>
                          <m:nor/>
                        </m:rPr>
                        <a:rPr lang="en-US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  </m:t>
                      </m:r>
                      <m:func>
                        <m:funcPr>
                          <m:ctrlP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b="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sz="1200" b="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1200" b="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200" b="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𝑗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b="0" dirty="0"/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And 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m:t>𝑗</m:t>
                            </m:r>
                          </m:sub>
                        </m:sSub>
                      </m:e>
                    </m:func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=</m:t>
                    </m:r>
                    <m:func>
                      <m:funcPr>
                        <m:ctrlP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200" i="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m:t>0</m:t>
                            </m:r>
                          </m:sub>
                        </m:sSub>
                      </m:e>
                    </m:func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+</m:t>
                    </m:r>
                    <m:d>
                      <m:dPr>
                        <m:ctrlP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m:t>𝛿</m:t>
                            </m:r>
                          </m:e>
                          <m:sub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m:t>𝑗</m:t>
                            </m:r>
                          </m:sub>
                        </m:sSub>
                        <m:r>
                          <a:rPr lang="en-US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−</m:t>
                        </m:r>
                        <m:func>
                          <m:funcPr>
                            <m:ctrlP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200" i="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m:t>𝐻</m:t>
                            </m:r>
                          </m:e>
                        </m:func>
                        <m:r>
                          <a:rPr lang="en-US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−</m:t>
                        </m:r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𝜉</m:t>
                        </m:r>
                      </m:e>
                    </m:d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/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𝜅</m:t>
                    </m:r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so for a fixed kid: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2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𝑗</m:t>
                              </m:r>
                            </m:sub>
                          </m:sSub>
                        </m:e>
                      </m:func>
                      <m:r>
                        <m:rPr>
                          <m:nor/>
                        </m:rPr>
                        <a:rPr lang="en-US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  </m:t>
                      </m:r>
                      <m:r>
                        <a:rPr lang="en-US" sz="1200" b="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  </m:t>
                      </m:r>
                      <m:r>
                        <m:rPr>
                          <m:nor/>
                        </m:rPr>
                        <a:rPr lang="en-US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const</m:t>
                      </m:r>
                      <m:r>
                        <m:rPr>
                          <m:nor/>
                        </m:rPr>
                        <a:rPr lang="en-US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  </m:t>
                      </m:r>
                      <m:r>
                        <a:rPr lang="en-US" sz="1200" b="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+</m:t>
                      </m:r>
                      <m:r>
                        <m:rPr>
                          <m:nor/>
                        </m:rPr>
                        <a:rPr lang="en-US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  </m:t>
                      </m:r>
                      <m:f>
                        <m:fPr>
                          <m:ctrlP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en-US" sz="1200" b="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𝜅</m:t>
                          </m:r>
                        </m:den>
                      </m:f>
                      <m:r>
                        <m:rPr>
                          <m:nor/>
                        </m:rPr>
                        <a:rPr lang="en-US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 </m:t>
                      </m:r>
                      <m:sSub>
                        <m:sSubPr>
                          <m:ctrlP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𝛿</m:t>
                          </m:r>
                        </m:e>
                        <m:sub>
                          <m: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𝑗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  </m:t>
                      </m:r>
                      <m:r>
                        <a:rPr lang="en-US" sz="1200" b="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+</m:t>
                      </m:r>
                      <m:r>
                        <m:rPr>
                          <m:nor/>
                        </m:rPr>
                        <a:rPr lang="en-US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  </m:t>
                      </m:r>
                      <m:func>
                        <m:funcPr>
                          <m:ctrlP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b="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sz="1200" b="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1200" b="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200" b="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𝑗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b="0" dirty="0"/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So 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m:t>𝑗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depends linearly on (a) word difficulty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𝛿</m:t>
                        </m:r>
                      </m:e>
                      <m:sub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(with slope 1/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κ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≈ 0.09 — the *efficiency-gain term*) and (b) word frequency 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m:t>𝑗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The plot's 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-axis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𝑡</m:t>
                        </m:r>
                      </m:e>
                      <m:sub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is monotone in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𝛿</m:t>
                        </m:r>
                      </m:e>
                      <m:sub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so what you see across age is the combined effect of *the model's difficulty estimate getting harder AND the typical word getting more or less frequent*.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Step 1 — Predict the age of 50%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model's linear predictor for kid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word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𝑗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age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𝜂_𝑖𝑗 (𝑡)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"  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"=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"  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𝜉_𝑖+𝜅_𝑖⋅log⁡(𝑡/𝑎_0 )+log⁡𝐻−𝛿_𝑗</a:t>
                </a:r>
                <a:endParaRPr lang="en-US" b="0" dirty="0"/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where: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𝜉_𝑖=log⁡〖𝑟_𝑖 〗+log⁡〖𝛼_𝑖 〗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— kid's intercept (log input rate + log efficiency)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𝜅_𝑖=1+𝛿+𝜁_𝑖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— kid's effective age-growth exponent (population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δ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+ per-kid deviation)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log⁡𝐻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𝑎_0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— fixed constants (log-hours-per-month, reference age)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𝛿_𝑗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— fitted item difficulty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At 50% production,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𝜂=0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so: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𝑡_𝑗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"  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"=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"  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𝑎_0⋅exp⁡" ⁣"  ((𝛿_𝑗−log⁡𝐻−𝜉_𝑖)/𝜅_𝑖 )</a:t>
                </a:r>
                <a:endParaRPr lang="en-US" b="0" dirty="0"/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 a typical kid, I set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𝜉_𝑖=𝜇_𝑟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(mean log rate; equivalent to log α = 0) and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𝜅_𝑖=1+𝛿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(population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κ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with no per-kid slope deviation). Posterior medians from the EN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M_best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fit: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𝜇_𝑟=7.34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𝛿=10.3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so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𝜅=11.3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Step 2 — Cumulative exposures of word *j* by age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𝑡_𝑗</a:t>
                </a:r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 typical kid hears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𝑟=𝑒^(𝜇_𝑟 )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tokens per hour ≈ 1,540 tokens/hour. Over a month, that's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𝑟⋅𝐻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tokens where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𝐻=𝑒^log⁡𝐻 =365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(waking hours per month ≈ 12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hr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/day × 30.4 days). The fraction of those tokens that ARE word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𝑗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is its empirical CHILDES frequency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𝑝_𝑗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So by age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𝑡_𝑗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months:</a:t>
                </a:r>
              </a:p>
              <a:p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▭("</a:t>
                </a:r>
                <a:r>
                  <a:rPr lang="en-US" b="0" i="0"/>
                  <a:t>  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</a:t>
                </a:r>
                <a:r>
                  <a:rPr lang="en-US" b="0" i="0"/>
                  <a:t>𝑁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en-US" b="0" i="0"/>
                  <a:t>𝑗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"  " ="  " 𝑟⋅𝐻⋅𝑡_𝑗⋅𝑝_𝑗 "  " )</a:t>
                </a:r>
                <a:endParaRPr lang="en-US" b="0" dirty="0"/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— total </a:t>
                </a:r>
                <a:r>
                  <a:rPr 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cumulative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count of times the kid has heard </a:t>
                </a:r>
                <a:r>
                  <a:rPr 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specific word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Step 3 — Plot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(𝑡_𝑗ⓜ,𝑁_𝑗 )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as one dot per word. y-axis on log scale because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𝑁_𝑗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spans ~10⁰ to 10⁵.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What the per-class regression lines show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 a single typical kid,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𝑟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and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𝐻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are constants. Taking logs: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log⁡〖𝑁_𝑗 〗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"  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"=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"  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 ⏟(log⁡(𝑟𝐻) )┬"constant"  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"  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"+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"  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 log⁡〖𝑡_𝑗 〗 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"  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"+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"  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 log⁡〖𝑝_𝑗 〗</a:t>
                </a:r>
                <a:endParaRPr lang="en-US" b="0" dirty="0"/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And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log⁡〖𝑡_𝑗 〗=log⁡〖𝑎_0 〗+(𝛿_𝑗−log⁡𝐻−𝜉)/𝜅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so for a fixed kid: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log⁡〖𝑁_𝑗 〗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"  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"=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"  const  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"+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"  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 1/𝜅 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 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𝛿_𝑗 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"  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"+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"  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 log⁡〖𝑝_𝑗 〗</a:t>
                </a:r>
                <a:endParaRPr lang="en-US" b="0" dirty="0"/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So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log⁡〖𝑁_𝑗 〗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depends linearly on (a) word difficulty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𝛿_𝑗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(with slope 1/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κ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≈ 0.09 — the *efficiency-gain term*) and (b) word frequency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log⁡〖𝑝_𝑗 〗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The plot's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-axis (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𝑡_𝑗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is monotone in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𝛿_𝑗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so what you see across age is the combined effect of *the model's difficulty estimate getting harder AND the typical word getting more or less frequent*.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E6C8C8-06DD-9946-B8CF-B9202E80B01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668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σ_r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the SD of log(tokens/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across kids. Multiplying by exp(·) converts it to the multiplicative factor for a 1-SD shift in input rate. The central pin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σ_r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0.534 (Sperry within-pool, adult-to-child) means a kid at the 84th percentile of input hears 1.71× more than the median, and the spread from 16th to 84th percentile (one full ±1 SD) is 1.71² ≈ 2.91×. Cross-cultural variation reaches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σ_r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≈ 1.2 (Bunce, Casillas), an 11× spread between 16th and 84th — but that's mostly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population-level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differences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Tseltal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Yélî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Pirahã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vs. Western-CDS), not within-population family-to-family variability.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E6C8C8-06DD-9946-B8CF-B9202E80B01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461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46"/>
            <a:ext cx="9144000" cy="548731"/>
          </a:xfrm>
          <a:prstGeom prst="rect">
            <a:avLst/>
          </a:prstGeom>
        </p:spPr>
        <p:txBody>
          <a:bodyPr/>
          <a:lstStyle>
            <a:lvl1pPr algn="l">
              <a:defRPr>
                <a:latin typeface="News Gothic MT" panose="020B0503020103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13678"/>
            <a:ext cx="8229600" cy="3880945"/>
          </a:xfrm>
          <a:prstGeom prst="rect">
            <a:avLst/>
          </a:prstGeom>
        </p:spPr>
        <p:txBody>
          <a:bodyPr/>
          <a:lstStyle>
            <a:lvl1pPr>
              <a:defRPr>
                <a:latin typeface="News Gothic MT" panose="020B0503020103020203" pitchFamily="34" charset="0"/>
              </a:defRPr>
            </a:lvl1pPr>
            <a:lvl2pPr>
              <a:defRPr>
                <a:latin typeface="News Gothic MT" panose="020B0503020103020203" pitchFamily="34" charset="0"/>
              </a:defRPr>
            </a:lvl2pPr>
            <a:lvl3pPr>
              <a:defRPr>
                <a:latin typeface="News Gothic MT" panose="020B0503020103020203" pitchFamily="34" charset="0"/>
              </a:defRPr>
            </a:lvl3pPr>
            <a:lvl4pPr>
              <a:defRPr>
                <a:latin typeface="News Gothic MT" panose="020B0503020103020203" pitchFamily="34" charset="0"/>
              </a:defRPr>
            </a:lvl4pPr>
            <a:lvl5pPr>
              <a:defRPr>
                <a:latin typeface="News Gothic MT" panose="020B0503020103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95"/>
            <a:ext cx="9144000" cy="547282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759417"/>
            <a:ext cx="4038600" cy="3835206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759417"/>
            <a:ext cx="4038600" cy="3835206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18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869576"/>
            <a:ext cx="8229600" cy="37250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News Gothic MT" panose="020B0503020103020203" pitchFamily="34" charset="0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News Gothic MT" panose="020B0503020103020203" pitchFamily="34" charset="0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News Gothic MT" panose="020B0503020103020203" pitchFamily="34" charset="0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News Gothic MT" panose="020B0503020103020203" pitchFamily="34" charset="0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News Gothic MT" panose="020B0503020103020203" pitchFamily="34" charset="0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News Gothic MT" panose="020B0503020103020203" pitchFamily="34" charset="0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17.png"/><Relationship Id="rId4" Type="http://schemas.openxmlformats.org/officeDocument/2006/relationships/customXml" Target="../ink/ink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customXml" Target="../ink/ink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4.xml"/><Relationship Id="rId4" Type="http://schemas.openxmlformats.org/officeDocument/2006/relationships/customXml" Target="../ink/ink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4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Acceleration and variability in vocabulary growth for young children </a:t>
            </a:r>
            <a:r>
              <a:rPr lang="en-US" dirty="0"/>
              <a:t>(</a:t>
            </a:r>
            <a:r>
              <a:rPr dirty="0"/>
              <a:t>and language models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br/>
            <a:br/>
            <a:r>
              <a:t>Michael C. Frank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0F12F-433C-9425-B9CA-8C49B7227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AI disclosure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AE517-2842-4DBA-A496-A7106B8F3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project I’ve collaborated completely with AI (Claude Code)</a:t>
            </a:r>
          </a:p>
          <a:p>
            <a:r>
              <a:rPr lang="en-US" dirty="0"/>
              <a:t>~6 weeks of constant iteration</a:t>
            </a:r>
          </a:p>
          <a:p>
            <a:r>
              <a:rPr lang="en-US" dirty="0"/>
              <a:t>Being careful about requesting cleanup, documentation, best practices throughout</a:t>
            </a:r>
          </a:p>
          <a:p>
            <a:r>
              <a:rPr lang="en-US" dirty="0"/>
              <a:t>Question about how to establish trust?</a:t>
            </a:r>
          </a:p>
          <a:p>
            <a:pPr lvl="1"/>
            <a:r>
              <a:rPr lang="en-US" dirty="0"/>
              <a:t>Key plots to diagnose model performance</a:t>
            </a:r>
          </a:p>
          <a:p>
            <a:pPr lvl="1"/>
            <a:r>
              <a:rPr lang="en-US" dirty="0"/>
              <a:t>Annotated Stan code</a:t>
            </a:r>
          </a:p>
          <a:p>
            <a:pPr lvl="1"/>
            <a:r>
              <a:rPr lang="en-US" dirty="0"/>
              <a:t>Provenance and reproducibility traces for all figures/table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9DF1D6-2966-4D4E-9816-DB940820E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2680" y="1081862"/>
            <a:ext cx="1489888" cy="148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757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05D0A-F686-3EB9-8530-1227D72F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Two views of early word learning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13AA0B-0669-B062-F60D-B58E4506BA6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Slow and incremental</a:t>
            </a:r>
          </a:p>
          <a:p>
            <a:r>
              <a:rPr lang="en-US" dirty="0"/>
              <a:t>Statistical learning (Saffran et al., 1996) </a:t>
            </a:r>
          </a:p>
          <a:p>
            <a:r>
              <a:rPr lang="en-US" dirty="0"/>
              <a:t>Cross-situational learning (Yu &amp; Smith, 2007)</a:t>
            </a:r>
          </a:p>
          <a:p>
            <a:r>
              <a:rPr lang="en-US" dirty="0"/>
              <a:t>Input-uptake relationships (</a:t>
            </a:r>
            <a:r>
              <a:rPr lang="en-US" dirty="0" err="1"/>
              <a:t>Weisleder</a:t>
            </a:r>
            <a:r>
              <a:rPr lang="en-US" dirty="0"/>
              <a:t> &amp; Fernald, 2012)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01F186-F417-0060-79FE-53DF87E14E2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Quick and inferential</a:t>
            </a:r>
          </a:p>
          <a:p>
            <a:r>
              <a:rPr lang="en-US" dirty="0"/>
              <a:t>Mutual exclusivity (Markman et al., 1988)</a:t>
            </a:r>
          </a:p>
          <a:p>
            <a:r>
              <a:rPr lang="en-US" dirty="0"/>
              <a:t>Shape bias (Smith et al., 2002)</a:t>
            </a:r>
          </a:p>
          <a:p>
            <a:r>
              <a:rPr lang="en-US" dirty="0"/>
              <a:t>Pragmatic word learning (Tomasello, 2000)</a:t>
            </a:r>
          </a:p>
        </p:txBody>
      </p:sp>
    </p:spTree>
    <p:extLst>
      <p:ext uri="{BB962C8B-B14F-4D97-AF65-F5344CB8AC3E}">
        <p14:creationId xmlns:p14="http://schemas.microsoft.com/office/powerpoint/2010/main" val="30665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lang="en-US" dirty="0"/>
              <a:t>Exploring s</a:t>
            </a:r>
            <a:r>
              <a:rPr dirty="0"/>
              <a:t>ignatures of vocabulary growth</a:t>
            </a:r>
          </a:p>
        </p:txBody>
      </p:sp>
      <p:pic>
        <p:nvPicPr>
          <p:cNvPr id="7" name="Picture 1" descr="precursor_acceleration.png">
            <a:extLst>
              <a:ext uri="{FF2B5EF4-FFF2-40B4-BE49-F238E27FC236}">
                <a16:creationId xmlns:a16="http://schemas.microsoft.com/office/drawing/2014/main" id="{790469AD-7108-AF08-E103-476786E67C7E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rcRect t="5455"/>
          <a:stretch>
            <a:fillRect/>
          </a:stretch>
        </p:blipFill>
        <p:spPr bwMode="auto">
          <a:xfrm>
            <a:off x="2771639" y="867641"/>
            <a:ext cx="5777040" cy="376150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68FB0E-5F6A-7871-FA97-181AE9E7E0E3}"/>
              </a:ext>
            </a:extLst>
          </p:cNvPr>
          <p:cNvSpPr txBox="1"/>
          <p:nvPr/>
        </p:nvSpPr>
        <p:spPr>
          <a:xfrm>
            <a:off x="207843" y="784513"/>
            <a:ext cx="238715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Acceleration </a:t>
            </a:r>
            <a:r>
              <a:rPr lang="en-US" sz="2800" dirty="0"/>
              <a:t>+ variability are </a:t>
            </a:r>
            <a:r>
              <a:rPr lang="en-US" sz="2800" b="1" dirty="0"/>
              <a:t>ubiquitous</a:t>
            </a:r>
          </a:p>
          <a:p>
            <a:endParaRPr lang="en-US" sz="2800" b="1" dirty="0"/>
          </a:p>
          <a:p>
            <a:r>
              <a:rPr lang="en-US" sz="2800" dirty="0"/>
              <a:t>Can they help us reconcile these two views?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CD85C7-ED5C-7777-9519-1CC8F391BB5B}"/>
              </a:ext>
            </a:extLst>
          </p:cNvPr>
          <p:cNvSpPr txBox="1"/>
          <p:nvPr/>
        </p:nvSpPr>
        <p:spPr>
          <a:xfrm>
            <a:off x="335244" y="4776457"/>
            <a:ext cx="80606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Terminology note: </a:t>
            </a:r>
            <a:r>
              <a:rPr lang="en-US" sz="1400" b="1" dirty="0"/>
              <a:t>Efficiency:</a:t>
            </a:r>
            <a:r>
              <a:rPr lang="en-US" sz="1400" dirty="0"/>
              <a:t> what’s changing in the child</a:t>
            </a:r>
            <a:r>
              <a:rPr lang="en-US" sz="1400" b="1" dirty="0"/>
              <a:t>; Acceleration: </a:t>
            </a:r>
            <a:r>
              <a:rPr lang="en-US" sz="1400" dirty="0"/>
              <a:t>what’s happening in the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05229-CAA1-5F8D-CD66-0AD4F7791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92828-F8B8-D9BD-E0C1-3188172FF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Two signatures of vocabulary growth</a:t>
            </a:r>
          </a:p>
        </p:txBody>
      </p:sp>
      <p:pic>
        <p:nvPicPr>
          <p:cNvPr id="3" name="Picture 1" descr="precursor_variability.png">
            <a:extLst>
              <a:ext uri="{FF2B5EF4-FFF2-40B4-BE49-F238E27FC236}">
                <a16:creationId xmlns:a16="http://schemas.microsoft.com/office/drawing/2014/main" id="{BCF5277B-73F3-9457-A7C0-E1FA334A6CC9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55864" y="725526"/>
            <a:ext cx="4610463" cy="317513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5FA47A-5776-CA1F-37B6-9294FEC7A8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445" y="1724757"/>
            <a:ext cx="4790564" cy="319370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7913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12203EF-6F9D-9D3F-DF45-E6640968D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091" y="306409"/>
            <a:ext cx="7065818" cy="46111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486857-F026-5D17-6276-19E803B7DFC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en-US" dirty="0"/>
              <a:t>Picking up where George left off…</a:t>
            </a:r>
          </a:p>
        </p:txBody>
      </p:sp>
    </p:spTree>
    <p:extLst>
      <p:ext uri="{BB962C8B-B14F-4D97-AF65-F5344CB8AC3E}">
        <p14:creationId xmlns:p14="http://schemas.microsoft.com/office/powerpoint/2010/main" val="313008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Is growth pure accumulation?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Maybe acceleration just falls out of accumulation?</a:t>
                </a:r>
              </a:p>
              <a:p>
                <a:pPr marL="0" lvl="0" indent="0">
                  <a:buNone/>
                </a:pPr>
                <a:endParaRPr lang="en-US" dirty="0"/>
              </a:p>
              <a:p>
                <a:pPr marL="0" lvl="0" indent="0">
                  <a:buNone/>
                </a:pPr>
                <a:r>
                  <a:rPr dirty="0"/>
                  <a:t>Each child has input 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dirty="0"/>
                  <a:t>; word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dirty="0"/>
                  <a:t> has difficulty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dirty="0"/>
                  <a:t>. A word is acquired when enough tokens accumulate.</a:t>
                </a:r>
                <a:endParaRPr lang="en-US" dirty="0"/>
              </a:p>
              <a:p>
                <a:pPr marL="0" lvl="0" indent="0">
                  <a:buNone/>
                </a:pPr>
                <a:endParaRPr dirty="0"/>
              </a:p>
              <a:p>
                <a:pPr marL="0" lvl="0" indent="0">
                  <a:buNone/>
                </a:pPr>
                <a:r>
                  <a:rPr dirty="0"/>
                  <a:t>Derived from cross-situational word learning and other associative/statistical learning ideas.</a:t>
                </a:r>
              </a:p>
              <a:p>
                <a:pPr marL="0" lvl="0" indent="0">
                  <a:buNone/>
                </a:pPr>
                <a:endParaRPr lang="en-US" b="1" dirty="0"/>
              </a:p>
              <a:p>
                <a:pPr marL="0" lvl="0" indent="0">
                  <a:buNone/>
                </a:pPr>
                <a:r>
                  <a:rPr b="1" dirty="0"/>
                  <a:t>Acceleration:</a:t>
                </a:r>
                <a:r>
                  <a:rPr dirty="0"/>
                  <a:t> Some models have changes in efficiency to create acceleration, others do not.</a:t>
                </a:r>
                <a:endParaRPr lang="en-US" dirty="0"/>
              </a:p>
              <a:p>
                <a:pPr marL="0" lvl="0" indent="0">
                  <a:buNone/>
                </a:pPr>
                <a:endParaRPr dirty="0"/>
              </a:p>
              <a:p>
                <a:pPr marL="0" lvl="0" indent="0">
                  <a:buNone/>
                </a:pPr>
                <a:r>
                  <a:rPr b="1" dirty="0"/>
                  <a:t>Variation:</a:t>
                </a:r>
                <a:r>
                  <a:rPr dirty="0"/>
                  <a:t> Between-child variation only in baseline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dirty="0"/>
                  <a:t>). No variation in efficiency.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627" t="-19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" descr="kachergis_buckets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0" y="759417"/>
            <a:ext cx="4038600" cy="1562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A3B935E-2E7E-4552-13EF-BD70D7E26708}"/>
                  </a:ext>
                </a:extLst>
              </p:cNvPr>
              <p:cNvSpPr txBox="1"/>
              <p:nvPr/>
            </p:nvSpPr>
            <p:spPr>
              <a:xfrm>
                <a:off x="4807277" y="2563298"/>
                <a:ext cx="4038600" cy="22467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0" indent="0">
                  <a:buNone/>
                </a:pPr>
                <a:r>
                  <a:rPr lang="en-US" sz="1400" b="1" dirty="0">
                    <a:latin typeface="News Gothic MT" panose="020B0503020103020203" pitchFamily="34" charset="0"/>
                  </a:rPr>
                  <a:t>In the literature: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latin typeface="News Gothic MT" panose="020B0503020103020203" pitchFamily="34" charset="0"/>
                  </a:rPr>
                  <a:t>McMurray (2007) — pure rate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400" dirty="0">
                    <a:latin typeface="News Gothic MT" panose="020B0503020103020203" pitchFamily="34" charset="0"/>
                  </a:rPr>
                  <a:t> time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latin typeface="News Gothic MT" panose="020B0503020103020203" pitchFamily="34" charset="0"/>
                  </a:rPr>
                  <a:t>Mitchell &amp; McMurray (2009) — + leverage feedback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latin typeface="News Gothic MT" panose="020B0503020103020203" pitchFamily="34" charset="0"/>
                  </a:rPr>
                  <a:t>Hidaka (2013) — cumulative-Weibull; rate change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latin typeface="News Gothic MT" panose="020B0503020103020203" pitchFamily="34" charset="0"/>
                  </a:rPr>
                  <a:t>Mollica &amp; Piantadosi (2017) — per-word Gamma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400" b="1" dirty="0" err="1">
                    <a:latin typeface="News Gothic MT" panose="020B0503020103020203" pitchFamily="34" charset="0"/>
                  </a:rPr>
                  <a:t>Kachergis</a:t>
                </a:r>
                <a:r>
                  <a:rPr lang="en-US" sz="1400" b="1" dirty="0">
                    <a:latin typeface="News Gothic MT" panose="020B0503020103020203" pitchFamily="34" charset="0"/>
                  </a:rPr>
                  <a:t> et al. (2021) — IRT Rasch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ar-AE" sz="14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1400" b="1" dirty="0">
                    <a:latin typeface="News Gothic MT" panose="020B0503020103020203" pitchFamily="34" charset="0"/>
                  </a:rPr>
                  <a:t> </a:t>
                </a:r>
                <a:r>
                  <a:rPr lang="en-US" sz="1400" dirty="0">
                    <a:latin typeface="News Gothic MT" panose="020B0503020103020203" pitchFamily="34" charset="0"/>
                  </a:rPr>
                  <a:t>(we build on this model)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A3B935E-2E7E-4552-13EF-BD70D7E267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277" y="2563298"/>
                <a:ext cx="4038600" cy="2246769"/>
              </a:xfrm>
              <a:prstGeom prst="rect">
                <a:avLst/>
              </a:prstGeom>
              <a:blipFill>
                <a:blip r:embed="rId4"/>
                <a:stretch>
                  <a:fillRect l="-627" b="-2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Item response theory (IRT)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07341" y="859335"/>
                <a:ext cx="4365653" cy="3880945"/>
              </a:xfrm>
            </p:spPr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rPr dirty="0"/>
                  <a:t>IRT describes a family of models of binary data (like CDI data).</a:t>
                </a:r>
              </a:p>
              <a:p>
                <a:pPr marL="0" lvl="0" indent="0">
                  <a:buNone/>
                </a:pPr>
                <a:endParaRPr lang="en-US" dirty="0"/>
              </a:p>
              <a:p>
                <a:pPr marL="0" lvl="0" indent="0">
                  <a:buNone/>
                </a:pPr>
                <a:r>
                  <a:rPr dirty="0"/>
                  <a:t>We use the Rasch model, a logistic model where each item has a single difficulty parameter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dirty="0"/>
                  <a:t>, and each person has a single ability parameter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dirty="0"/>
                  <a:t>.</a:t>
                </a:r>
                <a:endParaRPr lang="en-US" dirty="0"/>
              </a:p>
              <a:p>
                <a:pPr marL="0" lvl="0" indent="0">
                  <a:buNone/>
                </a:pPr>
                <a:endParaRPr dirty="0"/>
              </a:p>
              <a:p>
                <a:pPr marL="0" lvl="0" indent="0">
                  <a:buNone/>
                </a:pPr>
                <a:r>
                  <a:rPr dirty="0"/>
                  <a:t>Probability of success on an item is then just: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=1|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exp</m:t>
                          </m:r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7341" y="859335"/>
                <a:ext cx="4365653" cy="3880945"/>
              </a:xfrm>
              <a:blipFill>
                <a:blip r:embed="rId2"/>
                <a:stretch>
                  <a:fillRect l="-1744" t="-2280" r="-2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D36B8191-564F-BF4C-AEA2-DF27C847F32E}"/>
              </a:ext>
            </a:extLst>
          </p:cNvPr>
          <p:cNvGrpSpPr/>
          <p:nvPr/>
        </p:nvGrpSpPr>
        <p:grpSpPr>
          <a:xfrm>
            <a:off x="4975855" y="926607"/>
            <a:ext cx="4257983" cy="3671735"/>
            <a:chOff x="4157871" y="843856"/>
            <a:chExt cx="5667375" cy="5375788"/>
          </a:xfrm>
        </p:grpSpPr>
        <p:pic>
          <p:nvPicPr>
            <p:cNvPr id="5" name="Picture 9">
              <a:extLst>
                <a:ext uri="{FF2B5EF4-FFF2-40B4-BE49-F238E27FC236}">
                  <a16:creationId xmlns:a16="http://schemas.microsoft.com/office/drawing/2014/main" id="{2F5ADB77-48D1-7CE1-591C-887AF701D3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57871" y="843856"/>
              <a:ext cx="5667375" cy="5105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582BFF4-E271-5093-A293-7F990B34CB20}"/>
                </a:ext>
              </a:extLst>
            </p:cNvPr>
            <p:cNvSpPr txBox="1"/>
            <p:nvPr/>
          </p:nvSpPr>
          <p:spPr>
            <a:xfrm>
              <a:off x="4810161" y="5814090"/>
              <a:ext cx="3195957" cy="405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News Gothic MT"/>
                </a:rPr>
                <a:t>ICC = item characteristic curve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74014E4-0A19-1759-2212-3FD55103209F}"/>
                </a:ext>
              </a:extLst>
            </p:cNvPr>
            <p:cNvSpPr txBox="1"/>
            <p:nvPr/>
          </p:nvSpPr>
          <p:spPr>
            <a:xfrm>
              <a:off x="7543800" y="4194313"/>
              <a:ext cx="1210176" cy="405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News Gothic MT"/>
                </a:rPr>
                <a:t>(difficulty)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EBA3F86-5947-7851-BA66-7561CBD5E6EB}"/>
              </a:ext>
            </a:extLst>
          </p:cNvPr>
          <p:cNvGrpSpPr/>
          <p:nvPr/>
        </p:nvGrpSpPr>
        <p:grpSpPr>
          <a:xfrm>
            <a:off x="6680998" y="729837"/>
            <a:ext cx="1343278" cy="2823223"/>
            <a:chOff x="6351675" y="784415"/>
            <a:chExt cx="1787902" cy="413348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596E094-FC22-A674-FCFD-5D909BFA1D99}"/>
                </a:ext>
              </a:extLst>
            </p:cNvPr>
            <p:cNvSpPr txBox="1"/>
            <p:nvPr/>
          </p:nvSpPr>
          <p:spPr>
            <a:xfrm>
              <a:off x="6351675" y="784415"/>
              <a:ext cx="1787902" cy="9462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test taker with </a:t>
              </a:r>
              <a:r>
                <a:rPr lang="en-US" sz="12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θ</a:t>
              </a:r>
              <a:r>
                <a:rPr lang="en-US" sz="12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=0 has a 50% chance 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C1721854-9ADD-42D5-042A-8C19AE606E83}"/>
                </a:ext>
              </a:extLst>
            </p:cNvPr>
            <p:cNvCxnSpPr/>
            <p:nvPr/>
          </p:nvCxnSpPr>
          <p:spPr>
            <a:xfrm flipH="1">
              <a:off x="6991558" y="1580322"/>
              <a:ext cx="254068" cy="333757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lang="en-US" dirty="0"/>
              <a:t>P</a:t>
            </a:r>
            <a:r>
              <a:rPr dirty="0"/>
              <a:t>uzzle: input matters less than supposed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lvl="0" indent="0">
                  <a:buNone/>
                </a:pPr>
                <a:r>
                  <a:rPr dirty="0"/>
                  <a:t>The accumulator view predicts variation in growth comes from variation in input quantity. </a:t>
                </a:r>
                <a:endParaRPr lang="en-US" dirty="0"/>
              </a:p>
              <a:p>
                <a:pPr marL="0" lvl="0" indent="0">
                  <a:buNone/>
                </a:pPr>
                <a:endParaRPr lang="en-US" dirty="0"/>
              </a:p>
              <a:p>
                <a:pPr marL="0" lvl="0" indent="0">
                  <a:buNone/>
                </a:pPr>
                <a:r>
                  <a:rPr dirty="0"/>
                  <a:t>Coffey &amp; Snedeker (2026) meta-analyzed 71 studies, 4,760 children:</a:t>
                </a:r>
              </a:p>
              <a:p>
                <a:pPr marL="0" lv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lv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b="1" dirty="0"/>
                  <a:t> of input on outcome = 0.04–0.07.</a:t>
                </a:r>
              </a:p>
              <a:p>
                <a:pPr marL="0" lvl="0" indent="0">
                  <a:buNone/>
                </a:pPr>
                <a:endParaRPr lang="en-US" dirty="0"/>
              </a:p>
              <a:p>
                <a:pPr marL="0" lvl="0" indent="0">
                  <a:buNone/>
                </a:pPr>
                <a:r>
                  <a:rPr dirty="0"/>
                  <a:t>Caregiver speech quantity explains 4–7% of variance in language outcome — a real but small effect.</a:t>
                </a:r>
              </a:p>
              <a:p>
                <a:pPr marL="0" lvl="0" indent="0">
                  <a:buNone/>
                </a:pPr>
                <a:endParaRPr lang="en-US" b="1" dirty="0"/>
              </a:p>
              <a:p>
                <a:pPr marL="0" lvl="0" indent="0">
                  <a:buNone/>
                </a:pPr>
                <a:r>
                  <a:rPr b="1" dirty="0"/>
                  <a:t>Hypothesis:</a:t>
                </a:r>
                <a:r>
                  <a:rPr dirty="0"/>
                  <a:t> Variability comes from </a:t>
                </a:r>
                <a:r>
                  <a:rPr i="1" dirty="0"/>
                  <a:t>how children accelerate</a:t>
                </a:r>
                <a:r>
                  <a:rPr dirty="0"/>
                  <a:t>, not how much input they hear. 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940" t="-1987" r="-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CBED997F-80A0-E3B7-566C-3D8E92035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6341" y="913109"/>
            <a:ext cx="3720459" cy="331728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This work: modeling individual variability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3680223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dirty="0"/>
              <a:t>We build a Bayesian model </a:t>
            </a:r>
            <a:r>
              <a:rPr lang="en-US" dirty="0"/>
              <a:t>based on </a:t>
            </a:r>
            <a:r>
              <a:rPr lang="en-US" dirty="0" err="1"/>
              <a:t>Kachergis</a:t>
            </a:r>
            <a:r>
              <a:rPr lang="en-US" dirty="0"/>
              <a:t> et al. (2021) “standard model” </a:t>
            </a:r>
            <a:r>
              <a:rPr dirty="0"/>
              <a:t>to estimat</a:t>
            </a:r>
            <a:r>
              <a:rPr lang="en-US" dirty="0"/>
              <a:t>e:</a:t>
            </a:r>
            <a:endParaRPr dirty="0"/>
          </a:p>
          <a:p>
            <a:pPr marL="342900" lvl="0" indent="-342900">
              <a:buAutoNum type="arabicPeriod"/>
            </a:pPr>
            <a:endParaRPr lang="en-US" b="1" dirty="0"/>
          </a:p>
          <a:p>
            <a:pPr>
              <a:buFont typeface="Arial"/>
              <a:buAutoNum type="arabicPeriod"/>
            </a:pPr>
            <a:r>
              <a:rPr lang="en-US" b="1" dirty="0"/>
              <a:t>Efficiency change.</a:t>
            </a:r>
            <a:r>
              <a:rPr lang="en-US" dirty="0"/>
              <a:t> Does acceleration result from changes in learning efficiency?</a:t>
            </a:r>
          </a:p>
          <a:p>
            <a:pPr marL="342900" lvl="0" indent="-342900">
              <a:buAutoNum type="arabicPeriod"/>
            </a:pPr>
            <a:r>
              <a:rPr b="1" dirty="0"/>
              <a:t>Input share.</a:t>
            </a:r>
            <a:r>
              <a:rPr dirty="0"/>
              <a:t> How much of the between-child variance is attributable to input rate vs. to internal factors like </a:t>
            </a:r>
            <a:r>
              <a:rPr lang="en-US" dirty="0"/>
              <a:t>variation in </a:t>
            </a:r>
            <a:r>
              <a:rPr dirty="0"/>
              <a:t>efficiency?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Does the same machinery applied to large language models yield the same answers? 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Building the model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The accumulator hypothesis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lvl="0" indent="0">
                  <a:buNone/>
                </a:pPr>
                <a:r>
                  <a:rPr b="1" dirty="0"/>
                  <a:t>The idea.</a:t>
                </a:r>
                <a:r>
                  <a:rPr dirty="0"/>
                  <a:t> Each child accumulates word-evidence at her own input 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dirty="0"/>
                  <a:t>; word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dirty="0"/>
                  <a:t> is acquired once its difficulty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dirty="0"/>
                  <a:t> is crossed.</a:t>
                </a:r>
                <a:endParaRPr lang="en-US" dirty="0"/>
              </a:p>
              <a:p>
                <a:pPr marL="0" lvl="0" indent="0">
                  <a:buNone/>
                </a:pPr>
                <a:endParaRPr dirty="0"/>
              </a:p>
              <a:p>
                <a:pPr marL="0" lvl="0" indent="0">
                  <a:buNone/>
                </a:pPr>
                <a:r>
                  <a:rPr b="1" dirty="0"/>
                  <a:t>Ability scales as a power of input.</a:t>
                </a:r>
                <a:r>
                  <a:rPr dirty="0"/>
                  <a:t> If kids vary only in </a:t>
                </a:r>
                <a:r>
                  <a:rPr i="1" dirty="0"/>
                  <a:t>rate</a:t>
                </a:r>
                <a:r>
                  <a:rPr dirty="0"/>
                  <a:t>, then ability grows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/>
                          <m:t>(</m:t>
                        </m:r>
                        <m:r>
                          <m:rPr>
                            <m:nor/>
                          </m:rPr>
                          <a:rPr/>
                          <m:t>tokens</m:t>
                        </m:r>
                        <m:r>
                          <m:rPr>
                            <m:nor/>
                          </m:rPr>
                          <a:rPr/>
                          <m:t>)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dirty="0"/>
                  <a:t> — the pure </a:t>
                </a:r>
                <a:r>
                  <a:rPr i="1" dirty="0"/>
                  <a:t>unit accumulator</a:t>
                </a:r>
                <a:r>
                  <a:rPr dirty="0"/>
                  <a:t>. </a:t>
                </a:r>
                <a:endParaRPr lang="en-US" dirty="0"/>
              </a:p>
              <a:p>
                <a:pPr marL="231775" lvl="0" indent="-231775">
                  <a:buNone/>
                </a:pPr>
                <a:r>
                  <a:rPr lang="en-US" dirty="0"/>
                  <a:t>	</a:t>
                </a:r>
                <a:r>
                  <a:rPr dirty="0"/>
                  <a:t>Between-child differences come only from differences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dirty="0"/>
                  <a:t>.</a:t>
                </a:r>
              </a:p>
              <a:p>
                <a:pPr marL="0" lvl="0" indent="0">
                  <a:buNone/>
                </a:pPr>
                <a:endParaRPr lang="en-US" b="1" dirty="0"/>
              </a:p>
              <a:p>
                <a:pPr marL="0" lvl="0" indent="0">
                  <a:buNone/>
                </a:pPr>
                <a:r>
                  <a:rPr lang="en-US" b="1" dirty="0"/>
                  <a:t>Model checks:</a:t>
                </a:r>
                <a:endParaRPr b="1" dirty="0"/>
              </a:p>
              <a:p>
                <a:pPr lvl="0"/>
                <a:r>
                  <a:rPr dirty="0"/>
                  <a:t>Is the growth exponent really 1, or steeper?</a:t>
                </a:r>
              </a:p>
              <a:p>
                <a:pPr lvl="0"/>
                <a:r>
                  <a:rPr dirty="0"/>
                  <a:t>Are </a:t>
                </a:r>
                <a:r>
                  <a:rPr dirty="0" err="1"/>
                  <a:t>childrenalike</a:t>
                </a:r>
                <a:r>
                  <a:rPr dirty="0"/>
                  <a:t> except for input rate, or do they also differ in efficiency</a:t>
                </a:r>
                <a:r>
                  <a:rPr lang="en-US" dirty="0"/>
                  <a:t> (intercept) or</a:t>
                </a:r>
                <a:r>
                  <a:rPr dirty="0"/>
                  <a:t> in </a:t>
                </a:r>
                <a:r>
                  <a:rPr lang="en-US" dirty="0"/>
                  <a:t>efficiency change (slope)</a:t>
                </a:r>
                <a:r>
                  <a:rPr dirty="0"/>
                  <a:t>?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627" t="-1987" r="-6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" descr="kachergis_buckets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0" y="1501913"/>
            <a:ext cx="4038600" cy="1562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DAE06A-1F60-64DD-F354-4E84CE785B4E}"/>
              </a:ext>
            </a:extLst>
          </p:cNvPr>
          <p:cNvSpPr txBox="1"/>
          <p:nvPr/>
        </p:nvSpPr>
        <p:spPr>
          <a:xfrm>
            <a:off x="5605670" y="3190461"/>
            <a:ext cx="225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Kachergis</a:t>
            </a:r>
            <a:r>
              <a:rPr lang="en-US" dirty="0"/>
              <a:t> et al. (2021)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45C00-0169-DA69-65A5-2D1E0DB0D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089CEBD-7DCB-C4B6-1CE2-004B5F0EE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Rasch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718D0E19-531C-056A-F61E-948C208693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14:m>
                  <m:oMath xmlns:m="http://schemas.openxmlformats.org/officeDocument/2006/math">
                    <m:r>
                      <a:rPr lang="ar-AE" sz="180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ar-AE" sz="1800">
                            <a:latin typeface="Cambria Math" panose="02040503050406030204" pitchFamily="18" charset="0"/>
                          </a:rPr>
                          <m:t>=1|</m:t>
                        </m:r>
                        <m:sSub>
                          <m:sSub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ar-AE" sz="180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ar-AE" sz="18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exp</m:t>
                        </m:r>
                        <m:d>
                          <m:d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ar-AE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ar-AE" sz="180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ar-AE" sz="1800">
                            <a:latin typeface="Cambria Math" panose="02040503050406030204" pitchFamily="18" charset="0"/>
                          </a:rPr>
                          <m:t>𝑒𝑥𝑝</m:t>
                        </m:r>
                        <m:d>
                          <m:d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ar-AE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r>
                  <a:rPr lang="en-US" sz="1800" dirty="0"/>
                  <a:t>:</a:t>
                </a:r>
                <a:endParaRPr sz="1800" dirty="0"/>
              </a:p>
            </p:txBody>
          </p:sp>
        </mc:Choice>
        <mc:Fallback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718D0E19-531C-056A-F61E-948C208693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4DB432-BF13-4295-21C4-60B93E842EE5}"/>
                  </a:ext>
                </a:extLst>
              </p:cNvPr>
              <p:cNvSpPr txBox="1"/>
              <p:nvPr/>
            </p:nvSpPr>
            <p:spPr>
              <a:xfrm>
                <a:off x="2286000" y="3839356"/>
                <a:ext cx="457200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0" indent="0">
                  <a:buNone/>
                </a:pPr>
                <a:r>
                  <a:rPr lang="en-US" dirty="0"/>
                  <a:t>Standard Rasch IRT model – the substantive content is in how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 </a:t>
                </a:r>
                <a:r>
                  <a:rPr lang="en-US" dirty="0"/>
                  <a:t>depends on accumulated experience. 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4DB432-BF13-4295-21C4-60B93E842E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3839356"/>
                <a:ext cx="4572000" cy="923330"/>
              </a:xfrm>
              <a:prstGeom prst="rect">
                <a:avLst/>
              </a:prstGeom>
              <a:blipFill>
                <a:blip r:embed="rId3"/>
                <a:stretch>
                  <a:fillRect l="-1111" t="-2740" b="-10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FECC5998-13CA-E384-8773-43FF3DA5AB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824"/>
          <a:stretch>
            <a:fillRect/>
          </a:stretch>
        </p:blipFill>
        <p:spPr>
          <a:xfrm>
            <a:off x="4114800" y="1588524"/>
            <a:ext cx="4572000" cy="1724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029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241DD-2DDE-ADF9-49DB-AB31898A2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17A6BC9-D1AA-3372-8583-8576AC7E8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Rasch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9846CCCD-6C9D-50C4-3007-32E22D3EAC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14:m>
                  <m:oMath xmlns:m="http://schemas.openxmlformats.org/officeDocument/2006/math">
                    <m:r>
                      <a:rPr lang="ar-AE" sz="180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ar-AE" sz="1800">
                            <a:latin typeface="Cambria Math" panose="02040503050406030204" pitchFamily="18" charset="0"/>
                          </a:rPr>
                          <m:t>=1|</m:t>
                        </m:r>
                        <m:sSub>
                          <m:sSub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ar-AE" sz="180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ar-AE" sz="18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exp</m:t>
                        </m:r>
                        <m:d>
                          <m:d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ar-AE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ar-AE" sz="180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ar-AE" sz="1800">
                            <a:latin typeface="Cambria Math" panose="02040503050406030204" pitchFamily="18" charset="0"/>
                          </a:rPr>
                          <m:t>𝑒𝑥𝑝</m:t>
                        </m:r>
                        <m:d>
                          <m:d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ar-AE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r>
                  <a:rPr lang="en-US" sz="1800" dirty="0"/>
                  <a:t>:</a:t>
                </a:r>
                <a:endParaRPr sz="1800" dirty="0"/>
              </a:p>
            </p:txBody>
          </p:sp>
        </mc:Choice>
        <mc:Fallback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9846CCCD-6C9D-50C4-3007-32E22D3EAC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ED699438-1D8C-C39E-8CB6-9783458EF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824"/>
          <a:stretch>
            <a:fillRect/>
          </a:stretch>
        </p:blipFill>
        <p:spPr>
          <a:xfrm>
            <a:off x="4114800" y="1588524"/>
            <a:ext cx="4572000" cy="1724551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EB51742D-75F0-7FE1-32E6-A1CF408F0CD2}"/>
              </a:ext>
            </a:extLst>
          </p:cNvPr>
          <p:cNvGrpSpPr/>
          <p:nvPr/>
        </p:nvGrpSpPr>
        <p:grpSpPr>
          <a:xfrm>
            <a:off x="6473304" y="1615101"/>
            <a:ext cx="2044800" cy="2071800"/>
            <a:chOff x="6682023" y="1615101"/>
            <a:chExt cx="2044800" cy="207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9966422-2850-5C01-D60C-4AFC5462C596}"/>
                    </a:ext>
                  </a:extLst>
                </p14:cNvPr>
                <p14:cNvContentPartPr/>
                <p14:nvPr/>
              </p14:nvContentPartPr>
              <p14:xfrm>
                <a:off x="7157223" y="1615101"/>
                <a:ext cx="1569600" cy="17186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9966422-2850-5C01-D60C-4AFC5462C59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148223" y="1606461"/>
                  <a:ext cx="1587240" cy="173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8656ABE-91C6-FC76-B2CD-1810B1D52940}"/>
                    </a:ext>
                  </a:extLst>
                </p14:cNvPr>
                <p14:cNvContentPartPr/>
                <p14:nvPr/>
              </p14:nvContentPartPr>
              <p14:xfrm>
                <a:off x="6682023" y="3233661"/>
                <a:ext cx="533520" cy="4532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8656ABE-91C6-FC76-B2CD-1810B1D5294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673023" y="3224661"/>
                  <a:ext cx="551160" cy="4708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06329D0-ACC6-F37B-3FF3-7890999F12BB}"/>
              </a:ext>
            </a:extLst>
          </p:cNvPr>
          <p:cNvSpPr txBox="1"/>
          <p:nvPr/>
        </p:nvSpPr>
        <p:spPr>
          <a:xfrm>
            <a:off x="3349490" y="3935896"/>
            <a:ext cx="53770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Focus of most prior work (e.g., </a:t>
            </a:r>
            <a:r>
              <a:rPr lang="en-US" dirty="0" err="1"/>
              <a:t>Kachergis</a:t>
            </a:r>
            <a:r>
              <a:rPr lang="en-US" dirty="0"/>
              <a:t> et al., 2021; various AOA prediction work) – we leave this free here and don’t predict individual word difficulties</a:t>
            </a:r>
          </a:p>
        </p:txBody>
      </p:sp>
    </p:spTree>
    <p:extLst>
      <p:ext uri="{BB962C8B-B14F-4D97-AF65-F5344CB8AC3E}">
        <p14:creationId xmlns:p14="http://schemas.microsoft.com/office/powerpoint/2010/main" val="26147981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FBC8A-D7B8-CD68-B885-156497FB6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DF50CDB-54DA-52EA-4C39-AB5888103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Rasch + accumulator dynamics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4856F6-9D94-9AFB-7F61-4EE552C32C48}"/>
              </a:ext>
            </a:extLst>
          </p:cNvPr>
          <p:cNvSpPr txBox="1"/>
          <p:nvPr/>
        </p:nvSpPr>
        <p:spPr>
          <a:xfrm>
            <a:off x="1736889" y="3652081"/>
            <a:ext cx="54439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Ability = rate × time</a:t>
            </a:r>
            <a:r>
              <a:rPr lang="en-US" dirty="0"/>
              <a:t>. The only thing that changes across development is more accumulated input. The only source of variation between children is variation in the input rate</a:t>
            </a:r>
          </a:p>
        </p:txBody>
      </p:sp>
      <p:pic>
        <p:nvPicPr>
          <p:cNvPr id="2" name="Picture 1" descr="tikz_pngs/tikz_2.png">
            <a:extLst>
              <a:ext uri="{FF2B5EF4-FFF2-40B4-BE49-F238E27FC236}">
                <a16:creationId xmlns:a16="http://schemas.microsoft.com/office/drawing/2014/main" id="{8D9FBB22-03ED-A08F-CE6F-9BA4E2D287D3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81400" y="1613012"/>
            <a:ext cx="5105400" cy="1739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Placeholder 3">
                <a:extLst>
                  <a:ext uri="{FF2B5EF4-FFF2-40B4-BE49-F238E27FC236}">
                    <a16:creationId xmlns:a16="http://schemas.microsoft.com/office/drawing/2014/main" id="{952EB781-9B86-556E-97DF-2DCD030BFD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713678"/>
                <a:ext cx="8229600" cy="3880945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14:m>
                  <m:oMath xmlns:m="http://schemas.openxmlformats.org/officeDocument/2006/math">
                    <m:r>
                      <a:rPr lang="ar-AE" sz="180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ar-AE" sz="1800">
                            <a:latin typeface="Cambria Math" panose="02040503050406030204" pitchFamily="18" charset="0"/>
                          </a:rPr>
                          <m:t>=1|</m:t>
                        </m:r>
                        <m:sSub>
                          <m:sSub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ar-AE" sz="180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ar-AE" sz="18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exp</m:t>
                        </m:r>
                        <m:d>
                          <m:d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ar-AE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ar-AE" sz="180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ar-AE" sz="1800">
                            <a:latin typeface="Cambria Math" panose="02040503050406030204" pitchFamily="18" charset="0"/>
                          </a:rPr>
                          <m:t>𝑒𝑥𝑝</m:t>
                        </m:r>
                        <m:d>
                          <m:d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ar-AE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r>
                  <a:rPr lang="ar-AE" sz="1800" dirty="0"/>
                  <a:t>, </a:t>
                </a:r>
                <a:r>
                  <a:rPr lang="en-US" sz="1800" dirty="0"/>
                  <a:t>where:</a:t>
                </a:r>
                <a:endParaRPr sz="1800" dirty="0"/>
              </a:p>
            </p:txBody>
          </p:sp>
        </mc:Choice>
        <mc:Fallback>
          <p:sp>
            <p:nvSpPr>
              <p:cNvPr id="10" name="Text Placeholder 3">
                <a:extLst>
                  <a:ext uri="{FF2B5EF4-FFF2-40B4-BE49-F238E27FC236}">
                    <a16:creationId xmlns:a16="http://schemas.microsoft.com/office/drawing/2014/main" id="{952EB781-9B86-556E-97DF-2DCD030BFD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713678"/>
                <a:ext cx="8229600" cy="3880945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971E5356-0216-1CEC-D61D-A1FB9918DE2D}"/>
              </a:ext>
            </a:extLst>
          </p:cNvPr>
          <p:cNvGrpSpPr/>
          <p:nvPr/>
        </p:nvGrpSpPr>
        <p:grpSpPr>
          <a:xfrm>
            <a:off x="5227609" y="458157"/>
            <a:ext cx="3459192" cy="1724723"/>
            <a:chOff x="5227609" y="458157"/>
            <a:chExt cx="3459192" cy="1724723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9C27436-A9A5-4532-06B9-E9234EE861CE}"/>
                    </a:ext>
                  </a:extLst>
                </p14:cNvPr>
                <p14:cNvContentPartPr/>
                <p14:nvPr/>
              </p14:nvContentPartPr>
              <p14:xfrm>
                <a:off x="6874249" y="1508240"/>
                <a:ext cx="1176120" cy="6746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9C27436-A9A5-4532-06B9-E9234EE861C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865249" y="1499600"/>
                  <a:ext cx="1193760" cy="69228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CB19AB2-BDC3-4E2E-09C0-27FE9AA1FD1E}"/>
                </a:ext>
              </a:extLst>
            </p:cNvPr>
            <p:cNvSpPr txBox="1"/>
            <p:nvPr/>
          </p:nvSpPr>
          <p:spPr>
            <a:xfrm>
              <a:off x="5227609" y="458157"/>
              <a:ext cx="345919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Different from </a:t>
              </a:r>
              <a:r>
                <a:rPr lang="en-US" dirty="0" err="1">
                  <a:solidFill>
                    <a:srgbClr val="FF0000"/>
                  </a:solidFill>
                </a:rPr>
                <a:t>Kachergis</a:t>
              </a:r>
              <a:r>
                <a:rPr lang="en-US" dirty="0">
                  <a:solidFill>
                    <a:srgbClr val="FF0000"/>
                  </a:solidFill>
                </a:rPr>
                <a:t>; matches Peekbank &amp; Hidaka (2013). Power law, not exponential!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56244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7683D-02F0-F10A-8AC9-B58926293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B4D9F5B-A0D2-4E4A-2D33-7A9E39FD9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Rasch accumulator + per-child efficiency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Placeholder 3">
                <a:extLst>
                  <a:ext uri="{FF2B5EF4-FFF2-40B4-BE49-F238E27FC236}">
                    <a16:creationId xmlns:a16="http://schemas.microsoft.com/office/drawing/2014/main" id="{09823974-1592-B376-7D6F-450F99D6B4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713678"/>
                <a:ext cx="8229600" cy="3880945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14:m>
                  <m:oMath xmlns:m="http://schemas.openxmlformats.org/officeDocument/2006/math">
                    <m:r>
                      <a:rPr lang="ar-AE" sz="180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ar-AE" sz="1800">
                            <a:latin typeface="Cambria Math" panose="02040503050406030204" pitchFamily="18" charset="0"/>
                          </a:rPr>
                          <m:t>=1|</m:t>
                        </m:r>
                        <m:sSub>
                          <m:sSub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ar-AE" sz="180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ar-AE" sz="18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exp</m:t>
                        </m:r>
                        <m:d>
                          <m:d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ar-AE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ar-AE" sz="180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ar-AE" sz="1800">
                            <a:latin typeface="Cambria Math" panose="02040503050406030204" pitchFamily="18" charset="0"/>
                          </a:rPr>
                          <m:t>𝑒𝑥𝑝</m:t>
                        </m:r>
                        <m:d>
                          <m:d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ar-AE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r>
                  <a:rPr lang="ar-AE" sz="1800" dirty="0"/>
                  <a:t>, </a:t>
                </a:r>
                <a:r>
                  <a:rPr lang="en-US" sz="1800" dirty="0"/>
                  <a:t>where:</a:t>
                </a:r>
                <a:endParaRPr sz="1800" dirty="0"/>
              </a:p>
            </p:txBody>
          </p:sp>
        </mc:Choice>
        <mc:Fallback>
          <p:sp>
            <p:nvSpPr>
              <p:cNvPr id="10" name="Text Placeholder 3">
                <a:extLst>
                  <a:ext uri="{FF2B5EF4-FFF2-40B4-BE49-F238E27FC236}">
                    <a16:creationId xmlns:a16="http://schemas.microsoft.com/office/drawing/2014/main" id="{09823974-1592-B376-7D6F-450F99D6B4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713678"/>
                <a:ext cx="8229600" cy="388094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1" descr="tikz_pngs/tikz_3.png">
            <a:extLst>
              <a:ext uri="{FF2B5EF4-FFF2-40B4-BE49-F238E27FC236}">
                <a16:creationId xmlns:a16="http://schemas.microsoft.com/office/drawing/2014/main" id="{4F71D51F-1D4E-B03D-D26D-31C4CF648452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1612900"/>
            <a:ext cx="5105400" cy="1549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5B16C88-C73C-6DDA-4AF3-F06C4405EAC4}"/>
                  </a:ext>
                </a:extLst>
              </p:cNvPr>
              <p:cNvSpPr txBox="1"/>
              <p:nvPr/>
            </p:nvSpPr>
            <p:spPr>
              <a:xfrm>
                <a:off x="457201" y="2998922"/>
                <a:ext cx="4572000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0" indent="0">
                  <a:buNone/>
                </a:pPr>
                <a:r>
                  <a:rPr lang="en-US" dirty="0"/>
                  <a:t>Each child has a multiplicative efficiency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 </a:t>
                </a:r>
                <a:r>
                  <a:rPr lang="en-US" dirty="0"/>
                  <a:t>over and above their input rate. </a:t>
                </a:r>
              </a:p>
              <a:p>
                <a:pPr marL="0" lvl="0" indent="0">
                  <a:buNone/>
                </a:pPr>
                <a:endParaRPr lang="en-US" b="1" dirty="0"/>
              </a:p>
              <a:p>
                <a:pPr marL="0" lvl="0" indent="0">
                  <a:buNone/>
                </a:pPr>
                <a:r>
                  <a:rPr lang="en-US" dirty="0"/>
                  <a:t>How much of the between-child variance comes from efficiency vs. input rate? We summarize this share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/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ar-AE" dirty="0"/>
                  <a:t>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5B16C88-C73C-6DDA-4AF3-F06C4405E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1" y="2998922"/>
                <a:ext cx="4572000" cy="1754326"/>
              </a:xfrm>
              <a:prstGeom prst="rect">
                <a:avLst/>
              </a:prstGeom>
              <a:blipFill>
                <a:blip r:embed="rId4"/>
                <a:stretch>
                  <a:fillRect l="-1111" t="-2878" b="-5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9495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548B5-6186-F839-ED09-D9200D258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57A0BAC-02C2-6159-D54F-77A76258D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Rasch accumulator + efficiency slope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Placeholder 3">
                <a:extLst>
                  <a:ext uri="{FF2B5EF4-FFF2-40B4-BE49-F238E27FC236}">
                    <a16:creationId xmlns:a16="http://schemas.microsoft.com/office/drawing/2014/main" id="{591505F2-92D7-06C3-32CE-54147ABFCB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713678"/>
                <a:ext cx="8229600" cy="3880945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14:m>
                  <m:oMath xmlns:m="http://schemas.openxmlformats.org/officeDocument/2006/math">
                    <m:r>
                      <a:rPr lang="ar-AE" sz="180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ar-AE" sz="1800">
                            <a:latin typeface="Cambria Math" panose="02040503050406030204" pitchFamily="18" charset="0"/>
                          </a:rPr>
                          <m:t>=1|</m:t>
                        </m:r>
                        <m:sSub>
                          <m:sSub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ar-AE" sz="180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ar-AE" sz="18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exp</m:t>
                        </m:r>
                        <m:d>
                          <m:d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ar-AE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ar-AE" sz="180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ar-AE" sz="1800">
                            <a:latin typeface="Cambria Math" panose="02040503050406030204" pitchFamily="18" charset="0"/>
                          </a:rPr>
                          <m:t>𝑒𝑥𝑝</m:t>
                        </m:r>
                        <m:d>
                          <m:d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ar-AE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r>
                  <a:rPr lang="ar-AE" sz="1800" dirty="0"/>
                  <a:t>, </a:t>
                </a:r>
                <a:r>
                  <a:rPr lang="en-US" sz="1800" dirty="0"/>
                  <a:t>where:</a:t>
                </a:r>
                <a:endParaRPr sz="1800" dirty="0"/>
              </a:p>
            </p:txBody>
          </p:sp>
        </mc:Choice>
        <mc:Fallback>
          <p:sp>
            <p:nvSpPr>
              <p:cNvPr id="10" name="Text Placeholder 3">
                <a:extLst>
                  <a:ext uri="{FF2B5EF4-FFF2-40B4-BE49-F238E27FC236}">
                    <a16:creationId xmlns:a16="http://schemas.microsoft.com/office/drawing/2014/main" id="{591505F2-92D7-06C3-32CE-54147ABFCB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713678"/>
                <a:ext cx="8229600" cy="388094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tikz_pngs/tikz_4.png">
            <a:extLst>
              <a:ext uri="{FF2B5EF4-FFF2-40B4-BE49-F238E27FC236}">
                <a16:creationId xmlns:a16="http://schemas.microsoft.com/office/drawing/2014/main" id="{0DD2FC12-3072-B14F-D84D-98344D645892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1701800"/>
            <a:ext cx="5105400" cy="1384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3B28BCB-366E-AE6E-8386-2548AA1509DC}"/>
                  </a:ext>
                </a:extLst>
              </p:cNvPr>
              <p:cNvSpPr txBox="1"/>
              <p:nvPr/>
            </p:nvSpPr>
            <p:spPr>
              <a:xfrm>
                <a:off x="837525" y="3042481"/>
                <a:ext cx="5105399" cy="1822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0" indent="0">
                  <a:buNone/>
                </a:pPr>
                <a:r>
                  <a:rPr lang="en-US" dirty="0"/>
                  <a:t>The population accelerates: ability scales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𝜅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/>
                              <m:t>pop</m:t>
                            </m:r>
                          </m:sub>
                        </m:sSub>
                      </m:sup>
                    </m:sSup>
                  </m:oMath>
                </a14:m>
                <a:r>
                  <a:rPr lang="ar-AE" dirty="0"/>
                  <a:t> </a:t>
                </a:r>
                <a:r>
                  <a:rPr lang="en-US" dirty="0"/>
                  <a:t>super-linearly. All children still share one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m:rPr>
                            <m:nor/>
                          </m:rPr>
                          <a:rPr lang="en-US"/>
                          <m:t>pop</m:t>
                        </m:r>
                      </m:sub>
                    </m:sSub>
                  </m:oMath>
                </a14:m>
                <a:r>
                  <a:rPr lang="ar-AE" dirty="0"/>
                  <a:t>. </a:t>
                </a:r>
                <a:endParaRPr lang="en-US" dirty="0"/>
              </a:p>
              <a:p>
                <a:pPr marL="0" lvl="0" indent="0">
                  <a:buNone/>
                </a:pPr>
                <a:endParaRPr lang="en-US" dirty="0"/>
              </a:p>
              <a:p>
                <a:pPr marL="0" lvl="0" indent="0">
                  <a:buNone/>
                </a:pPr>
                <a:r>
                  <a:rPr lang="en-US" dirty="0"/>
                  <a:t>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m:rPr>
                            <m:nor/>
                          </m:rPr>
                          <a:rPr lang="en-US"/>
                          <m:t>pop</m:t>
                        </m:r>
                      </m:sub>
                    </m:sSub>
                  </m:oMath>
                </a14:m>
                <a:r>
                  <a:rPr lang="ar-AE" dirty="0"/>
                  <a:t> </a:t>
                </a:r>
                <a:r>
                  <a:rPr lang="en-US" dirty="0"/>
                  <a:t>really above 1 — i.e., does ability grow faster than a unit accumulator predicts? This is Hidaka’s rate-change model (same as </a:t>
                </a:r>
                <a:r>
                  <a:rPr lang="en-US" dirty="0" err="1"/>
                  <a:t>Kachergis</a:t>
                </a:r>
                <a:r>
                  <a:rPr lang="en-US" dirty="0"/>
                  <a:t> et al., 2021).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3B28BCB-366E-AE6E-8386-2548AA150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525" y="3042481"/>
                <a:ext cx="5105399" cy="1822422"/>
              </a:xfrm>
              <a:prstGeom prst="rect">
                <a:avLst/>
              </a:prstGeom>
              <a:blipFill>
                <a:blip r:embed="rId4"/>
                <a:stretch>
                  <a:fillRect l="-990" t="-1379" r="-1733" b="-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86927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6B735-C00F-72AE-6042-E3A031322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5E83B56-9AF2-5A16-95B7-C9DB216E9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Rasch accumulator + per-child efficiency slope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Placeholder 3">
                <a:extLst>
                  <a:ext uri="{FF2B5EF4-FFF2-40B4-BE49-F238E27FC236}">
                    <a16:creationId xmlns:a16="http://schemas.microsoft.com/office/drawing/2014/main" id="{AEE6167C-957E-5664-2A72-C8A8C1A653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713678"/>
                <a:ext cx="8229600" cy="3880945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14:m>
                  <m:oMath xmlns:m="http://schemas.openxmlformats.org/officeDocument/2006/math">
                    <m:r>
                      <a:rPr lang="ar-AE" sz="180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ar-AE" sz="1800">
                            <a:latin typeface="Cambria Math" panose="02040503050406030204" pitchFamily="18" charset="0"/>
                          </a:rPr>
                          <m:t>=1|</m:t>
                        </m:r>
                        <m:sSub>
                          <m:sSub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ar-AE" sz="180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ar-AE" sz="18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exp</m:t>
                        </m:r>
                        <m:d>
                          <m:d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ar-AE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ar-AE" sz="180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ar-AE" sz="1800">
                            <a:latin typeface="Cambria Math" panose="02040503050406030204" pitchFamily="18" charset="0"/>
                          </a:rPr>
                          <m:t>𝑒𝑥𝑝</m:t>
                        </m:r>
                        <m:d>
                          <m:d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ar-AE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ar-AE" sz="180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r>
                  <a:rPr lang="ar-AE" sz="1800" dirty="0"/>
                  <a:t>, </a:t>
                </a:r>
                <a:r>
                  <a:rPr lang="en-US" sz="1800" dirty="0"/>
                  <a:t>where:</a:t>
                </a:r>
                <a:endParaRPr sz="1800" dirty="0"/>
              </a:p>
            </p:txBody>
          </p:sp>
        </mc:Choice>
        <mc:Fallback>
          <p:sp>
            <p:nvSpPr>
              <p:cNvPr id="10" name="Text Placeholder 3">
                <a:extLst>
                  <a:ext uri="{FF2B5EF4-FFF2-40B4-BE49-F238E27FC236}">
                    <a16:creationId xmlns:a16="http://schemas.microsoft.com/office/drawing/2014/main" id="{AEE6167C-957E-5664-2A72-C8A8C1A653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713678"/>
                <a:ext cx="8229600" cy="388094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1" descr="tikz_pngs/tikz_5.png">
            <a:extLst>
              <a:ext uri="{FF2B5EF4-FFF2-40B4-BE49-F238E27FC236}">
                <a16:creationId xmlns:a16="http://schemas.microsoft.com/office/drawing/2014/main" id="{FA95D4A1-7407-FA0F-FD93-0B3E63B37ADE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1625600"/>
            <a:ext cx="5105400" cy="1536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84EE8FB-9A2C-3D62-E3B4-0C1192588AB2}"/>
                  </a:ext>
                </a:extLst>
              </p:cNvPr>
              <p:cNvSpPr txBox="1"/>
              <p:nvPr/>
            </p:nvSpPr>
            <p:spPr>
              <a:xfrm>
                <a:off x="457200" y="2974576"/>
                <a:ext cx="4572000" cy="9538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0" indent="0">
                  <a:buNone/>
                </a:pPr>
                <a:r>
                  <a:rPr lang="en-US" b="1" dirty="0"/>
                  <a:t>Each child has their own growth exponent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m:rPr>
                            <m:nor/>
                          </m:rPr>
                          <a:rPr lang="en-US"/>
                          <m:t>pop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𝜁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b="1" dirty="0"/>
                  <a:t>.</a:t>
                </a:r>
                <a:r>
                  <a:rPr lang="ar-AE" dirty="0"/>
                  <a:t> </a:t>
                </a:r>
                <a:r>
                  <a:rPr lang="en-US" dirty="0"/>
                  <a:t>The new piece: between-child variation in how efficiency changes. 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84EE8FB-9A2C-3D62-E3B4-0C1192588A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974576"/>
                <a:ext cx="4572000" cy="953851"/>
              </a:xfrm>
              <a:prstGeom prst="rect">
                <a:avLst/>
              </a:prstGeom>
              <a:blipFill>
                <a:blip r:embed="rId4"/>
                <a:stretch>
                  <a:fillRect l="-1111" t="-3947" b="-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71698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36583-B976-652C-5E3E-C331A47AB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Rasch – </a:t>
            </a:r>
            <a:r>
              <a:rPr lang="en-US" dirty="0" err="1"/>
              <a:t>glmer</a:t>
            </a:r>
            <a:r>
              <a:rPr lang="en-US" dirty="0"/>
              <a:t> equivalency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CB9AB-E43F-9A2D-0AEB-D1F9282FF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This model is also a GLMER with: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produces ~ = 1 +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log_age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+ (1 +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log_age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| child)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+ (1 | word)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cs typeface="Courier New" panose="02070309020205020404" pitchFamily="49" charset="0"/>
              </a:rPr>
              <a:t>modulo some significant (but not huge) differences…</a:t>
            </a:r>
          </a:p>
          <a:p>
            <a:r>
              <a:rPr lang="en-US" dirty="0">
                <a:cs typeface="Courier New" panose="02070309020205020404" pitchFamily="49" charset="0"/>
              </a:rPr>
              <a:t>Can pin input rate externally</a:t>
            </a:r>
          </a:p>
          <a:p>
            <a:r>
              <a:rPr lang="en-US" dirty="0">
                <a:cs typeface="Courier New" panose="02070309020205020404" pitchFamily="49" charset="0"/>
              </a:rPr>
              <a:t>Bayesian/extensible</a:t>
            </a:r>
          </a:p>
          <a:p>
            <a:r>
              <a:rPr lang="en-US" dirty="0">
                <a:cs typeface="Courier New" panose="02070309020205020404" pitchFamily="49" charset="0"/>
              </a:rPr>
              <a:t>(We never examined fit to variance in prior work!)</a:t>
            </a:r>
          </a:p>
        </p:txBody>
      </p:sp>
    </p:spTree>
    <p:extLst>
      <p:ext uri="{BB962C8B-B14F-4D97-AF65-F5344CB8AC3E}">
        <p14:creationId xmlns:p14="http://schemas.microsoft.com/office/powerpoint/2010/main" val="38395641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Results: English and Norwegian longitudinal fits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Data and compute for the longitudinal fits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lvl="0" indent="0">
                  <a:buNone/>
                </a:pPr>
                <a:r>
                  <a:rPr b="1" dirty="0"/>
                  <a:t>Data.</a:t>
                </a:r>
              </a:p>
              <a:p>
                <a:pPr lvl="0"/>
                <a:r>
                  <a:rPr lang="en-US" b="1" dirty="0"/>
                  <a:t>Reduced English (WS form). </a:t>
                </a:r>
                <a:r>
                  <a:rPr lang="en-US" i="1" dirty="0"/>
                  <a:t>I = </a:t>
                </a:r>
                <a:r>
                  <a:rPr lang="en-US" dirty="0"/>
                  <a:t>200 children, </a:t>
                </a:r>
                <a:r>
                  <a:rPr lang="en-US" i="1" dirty="0"/>
                  <a:t>J = </a:t>
                </a:r>
                <a:r>
                  <a:rPr lang="en-US" dirty="0"/>
                  <a:t>200 words. </a:t>
                </a:r>
                <a:endParaRPr lang="en-US" i="1" dirty="0"/>
              </a:p>
              <a:p>
                <a:pPr lvl="0"/>
                <a:r>
                  <a:rPr b="1" dirty="0"/>
                  <a:t>English.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𝐼</m:t>
                    </m:r>
                    <m:r>
                      <a:rPr>
                        <a:latin typeface="Cambria Math" panose="02040503050406030204" pitchFamily="18" charset="0"/>
                      </a:rPr>
                      <m:t>=500</m:t>
                    </m:r>
                  </m:oMath>
                </a14:m>
                <a:r>
                  <a:rPr dirty="0"/>
                  <a:t> children,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∼</m:t>
                    </m:r>
                  </m:oMath>
                </a14:m>
                <a:r>
                  <a:rPr dirty="0"/>
                  <a:t> 1500 administrations,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𝐽</m:t>
                    </m:r>
                    <m:r>
                      <a:rPr>
                        <a:latin typeface="Cambria Math" panose="02040503050406030204" pitchFamily="18" charset="0"/>
                      </a:rPr>
                      <m:t>=671</m:t>
                    </m:r>
                  </m:oMath>
                </a14:m>
                <a:r>
                  <a:rPr dirty="0"/>
                  <a:t> items (full WS list),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𝑁</m:t>
                    </m:r>
                    <m:r>
                      <a:rPr>
                        <a:latin typeface="Cambria Math" panose="02040503050406030204" pitchFamily="18" charset="0"/>
                      </a:rPr>
                      <m:t>≈1.1</m:t>
                    </m:r>
                  </m:oMath>
                </a14:m>
                <a:r>
                  <a:rPr dirty="0"/>
                  <a:t>M observed responses. Stratified-by-median-age sampling.</a:t>
                </a:r>
              </a:p>
              <a:p>
                <a:pPr lvl="0"/>
                <a:r>
                  <a:rPr b="1" dirty="0"/>
                  <a:t>Norwegian.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𝐼</m:t>
                    </m:r>
                    <m:r>
                      <a:rPr>
                        <a:latin typeface="Cambria Math" panose="02040503050406030204" pitchFamily="18" charset="0"/>
                      </a:rPr>
                      <m:t>=500</m:t>
                    </m:r>
                  </m:oMath>
                </a14:m>
                <a:r>
                  <a:rPr dirty="0"/>
                  <a:t> children,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∼</m:t>
                    </m:r>
                  </m:oMath>
                </a14:m>
                <a:r>
                  <a:rPr dirty="0"/>
                  <a:t> 3000 administrations,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𝐽</m:t>
                    </m:r>
                    <m:r>
                      <a:rPr>
                        <a:latin typeface="Cambria Math" panose="02040503050406030204" pitchFamily="18" charset="0"/>
                      </a:rPr>
                      <m:t>=716</m:t>
                    </m:r>
                  </m:oMath>
                </a14:m>
                <a:r>
                  <a:rPr dirty="0"/>
                  <a:t> items,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𝑁</m:t>
                    </m:r>
                    <m:r>
                      <a:rPr>
                        <a:latin typeface="Cambria Math" panose="02040503050406030204" pitchFamily="18" charset="0"/>
                      </a:rPr>
                      <m:t>≈2.2</m:t>
                    </m:r>
                  </m:oMath>
                </a14:m>
                <a:r>
                  <a:rPr dirty="0"/>
                  <a:t>M responses. Same stratification.</a:t>
                </a:r>
                <a:endParaRPr lang="en-US" dirty="0"/>
              </a:p>
              <a:p>
                <a:pPr lvl="0"/>
                <a:endParaRPr dirty="0"/>
              </a:p>
              <a:p>
                <a:pPr marL="0" lvl="0" indent="0">
                  <a:buNone/>
                </a:pPr>
                <a:r>
                  <a:rPr b="1" dirty="0"/>
                  <a:t>Model family.</a:t>
                </a:r>
                <a:r>
                  <a:rPr dirty="0"/>
                  <a:t> </a:t>
                </a:r>
                <a:r>
                  <a:rPr lang="en-US" dirty="0"/>
                  <a:t>Four</a:t>
                </a:r>
                <a:r>
                  <a:rPr dirty="0"/>
                  <a:t>-step build run as a sequence of Stan models on each dataset: </a:t>
                </a:r>
                <a:r>
                  <a:rPr dirty="0">
                    <a:latin typeface="Courier"/>
                  </a:rPr>
                  <a:t>pure</a:t>
                </a:r>
                <a:r>
                  <a:rPr dirty="0"/>
                  <a:t>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r>
                      <a:rPr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dirty="0"/>
                  <a:t>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m:rPr>
                            <m:nor/>
                          </m:rPr>
                          <a:rPr/>
                          <m:t>pop</m:t>
                        </m:r>
                      </m:sub>
                    </m:sSub>
                  </m:oMath>
                </a14:m>
                <a:r>
                  <a:rPr dirty="0"/>
                  <a:t>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𝜁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dirty="0"/>
                  <a:t>.</a:t>
                </a:r>
                <a:endParaRPr lang="en-US" dirty="0"/>
              </a:p>
              <a:p>
                <a:pPr marL="0" lvl="0" indent="0">
                  <a:buNone/>
                </a:pPr>
                <a:r>
                  <a:rPr dirty="0"/>
                  <a:t> </a:t>
                </a:r>
                <a:endParaRPr lang="en-US" b="1" dirty="0"/>
              </a:p>
              <a:p>
                <a:pPr marL="0" lvl="0" indent="0">
                  <a:buNone/>
                </a:pPr>
                <a:r>
                  <a:rPr b="1" dirty="0"/>
                  <a:t>Compute.</a:t>
                </a:r>
                <a:r>
                  <a:rPr dirty="0"/>
                  <a:t> </a:t>
                </a:r>
                <a:endParaRPr lang="en-US" dirty="0"/>
              </a:p>
              <a:p>
                <a:r>
                  <a:rPr lang="en-US" dirty="0"/>
                  <a:t>Sherlock for reduced fits (all CPU). </a:t>
                </a:r>
              </a:p>
              <a:p>
                <a:r>
                  <a:rPr dirty="0"/>
                  <a:t>GCP virtual machine (</a:t>
                </a:r>
                <a:r>
                  <a:rPr dirty="0">
                    <a:latin typeface="Courier"/>
                  </a:rPr>
                  <a:t>n2d-standard-128</a:t>
                </a:r>
                <a:r>
                  <a:rPr dirty="0"/>
                  <a:t>, 64 physical AMD EPYC cores each, 128 GB RAM). Stan with </a:t>
                </a:r>
                <a:r>
                  <a:rPr dirty="0" err="1">
                    <a:latin typeface="Courier"/>
                  </a:rPr>
                  <a:t>reduce_sum</a:t>
                </a:r>
                <a:r>
                  <a:rPr dirty="0"/>
                  <a:t> threading: 4 chains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dirty="0"/>
                  <a:t> 16 threads/chain saturates the 64 physical cores per machine. </a:t>
                </a:r>
                <a:endParaRPr lang="en-US" dirty="0"/>
              </a:p>
              <a:p>
                <a:r>
                  <a:rPr lang="en-US" dirty="0"/>
                  <a:t>Check by fitting </a:t>
                </a:r>
                <a:r>
                  <a:rPr lang="en-US" dirty="0" err="1"/>
                  <a:t>glmer</a:t>
                </a:r>
                <a:r>
                  <a:rPr lang="en-US" dirty="0"/>
                  <a:t> 🙃</a:t>
                </a:r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09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235251-0CAC-715D-256B-C306C017A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49" y="0"/>
            <a:ext cx="628650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lang="en-US" dirty="0"/>
              <a:t>Latent ability changes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10B650-5243-7E19-1FCB-0CE013321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781" y="665084"/>
            <a:ext cx="5195455" cy="42508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C74999-1BF6-D7E3-7FF4-031C3F86243C}"/>
              </a:ext>
            </a:extLst>
          </p:cNvPr>
          <p:cNvSpPr txBox="1"/>
          <p:nvPr/>
        </p:nvSpPr>
        <p:spPr>
          <a:xfrm>
            <a:off x="6837219" y="3127664"/>
            <a:ext cx="20470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 power law not exponential – hard to think about – fastest acceleration early on, not later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7B23B-F667-F2F2-5019-BBB1F6F94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N=500 longitudinal data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C3BA42-AE59-5021-22D3-82AA47F80E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2150" y="714375"/>
            <a:ext cx="7759700" cy="387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9014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Best-fitting model: parameter posteriors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5DCBDE5-797C-090B-EE8F-DF9EB2A46F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625835"/>
              </p:ext>
            </p:extLst>
          </p:nvPr>
        </p:nvGraphicFramePr>
        <p:xfrm>
          <a:off x="1661214" y="1110067"/>
          <a:ext cx="5494958" cy="30345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31648">
                  <a:extLst>
                    <a:ext uri="{9D8B030D-6E8A-4147-A177-3AD203B41FA5}">
                      <a16:colId xmlns:a16="http://schemas.microsoft.com/office/drawing/2014/main" val="3703016962"/>
                    </a:ext>
                  </a:extLst>
                </a:gridCol>
                <a:gridCol w="2081655">
                  <a:extLst>
                    <a:ext uri="{9D8B030D-6E8A-4147-A177-3AD203B41FA5}">
                      <a16:colId xmlns:a16="http://schemas.microsoft.com/office/drawing/2014/main" val="459678636"/>
                    </a:ext>
                  </a:extLst>
                </a:gridCol>
                <a:gridCol w="2081655">
                  <a:extLst>
                    <a:ext uri="{9D8B030D-6E8A-4147-A177-3AD203B41FA5}">
                      <a16:colId xmlns:a16="http://schemas.microsoft.com/office/drawing/2014/main" val="742769778"/>
                    </a:ext>
                  </a:extLst>
                </a:gridCol>
              </a:tblGrid>
              <a:tr h="3371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Parameter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EN </a:t>
                      </a:r>
                      <a:r>
                        <a:rPr lang="en-US" sz="1400" b="1" u="none" strike="noStrike" dirty="0" err="1">
                          <a:effectLst/>
                        </a:rPr>
                        <a:t>M_best</a:t>
                      </a:r>
                      <a:r>
                        <a:rPr lang="en-US" sz="1400" b="1" u="none" strike="noStrike" dirty="0">
                          <a:effectLst/>
                        </a:rPr>
                        <a:t> (I=500)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NO </a:t>
                      </a:r>
                      <a:r>
                        <a:rPr lang="en-US" sz="1400" b="1" u="none" strike="noStrike" dirty="0" err="1">
                          <a:effectLst/>
                        </a:rPr>
                        <a:t>M_best</a:t>
                      </a:r>
                      <a:r>
                        <a:rPr lang="en-US" sz="1400" b="1" u="none" strike="noStrike" dirty="0">
                          <a:effectLst/>
                        </a:rPr>
                        <a:t> (I=500)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65768874"/>
                  </a:ext>
                </a:extLst>
              </a:tr>
              <a:tr h="3371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I (kids)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500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500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0731350"/>
                  </a:ext>
                </a:extLst>
              </a:tr>
              <a:tr h="3371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J (items)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671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674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75377439"/>
                  </a:ext>
                </a:extLst>
              </a:tr>
              <a:tr h="3371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N (</a:t>
                      </a:r>
                      <a:r>
                        <a:rPr lang="en-US" sz="1400" u="none" strike="noStrike" dirty="0" err="1">
                          <a:effectLst/>
                        </a:rPr>
                        <a:t>obs</a:t>
                      </a:r>
                      <a:r>
                        <a:rPr lang="en-US" sz="1400" u="none" strike="noStrike" dirty="0">
                          <a:effectLst/>
                        </a:rPr>
                        <a:t>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1106805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2056872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99382582"/>
                  </a:ext>
                </a:extLst>
              </a:tr>
              <a:tr h="3371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kappa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10.31 [10.25, 10.37]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11.47 [11.40, 11.53]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21338577"/>
                  </a:ext>
                </a:extLst>
              </a:tr>
              <a:tr h="3371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sigma_alpha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1.81 [1.69, 1.94]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2.05 [1.93, 2.18]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65587556"/>
                  </a:ext>
                </a:extLst>
              </a:tr>
              <a:tr h="3371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sigma_zeta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3.81 [3.58, 4.07]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4.79 [4.49, 5.13]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16357527"/>
                  </a:ext>
                </a:extLst>
              </a:tr>
              <a:tr h="3371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pi_alpha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0.92 [0.91, 0.93]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0.94 [0.93, 0.94]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51229981"/>
                  </a:ext>
                </a:extLst>
              </a:tr>
              <a:tr h="3371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rho(xi, zeta)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-0.09 [-0.18, -0.01]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-0.13 [-0.21, -0.04]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83241886"/>
                  </a:ext>
                </a:extLst>
              </a:tr>
            </a:tbl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1BA8F53E-626E-EAD5-CD27-0052E20B0236}"/>
              </a:ext>
            </a:extLst>
          </p:cNvPr>
          <p:cNvGrpSpPr/>
          <p:nvPr/>
        </p:nvGrpSpPr>
        <p:grpSpPr>
          <a:xfrm>
            <a:off x="1243393" y="2228332"/>
            <a:ext cx="7685808" cy="646331"/>
            <a:chOff x="1243393" y="2228332"/>
            <a:chExt cx="7685808" cy="646331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D7B12A2-0239-819F-755D-D6AE3A0171DD}"/>
                    </a:ext>
                  </a:extLst>
                </p14:cNvPr>
                <p14:cNvContentPartPr/>
                <p14:nvPr/>
              </p14:nvContentPartPr>
              <p14:xfrm>
                <a:off x="1243393" y="2419776"/>
                <a:ext cx="6111360" cy="454887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D7B12A2-0239-819F-755D-D6AE3A0171D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34393" y="2410779"/>
                  <a:ext cx="6129000" cy="472521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755CFED-AE76-8ED6-FBC2-5A3D342F2745}"/>
                </a:ext>
              </a:extLst>
            </p:cNvPr>
            <p:cNvSpPr txBox="1"/>
            <p:nvPr/>
          </p:nvSpPr>
          <p:spPr>
            <a:xfrm>
              <a:off x="7354753" y="2228332"/>
              <a:ext cx="15744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Increasing efficiency!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0A8DC7B-E598-8774-BDF5-1EF05FFA866C}"/>
              </a:ext>
            </a:extLst>
          </p:cNvPr>
          <p:cNvGrpSpPr/>
          <p:nvPr/>
        </p:nvGrpSpPr>
        <p:grpSpPr>
          <a:xfrm>
            <a:off x="1157254" y="3340130"/>
            <a:ext cx="7771947" cy="923330"/>
            <a:chOff x="1157254" y="3340130"/>
            <a:chExt cx="7771947" cy="92333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F9A1E6A-EE6D-5FAA-6F62-9EAA89AC30FF}"/>
                    </a:ext>
                  </a:extLst>
                </p14:cNvPr>
                <p14:cNvContentPartPr/>
                <p14:nvPr/>
              </p14:nvContentPartPr>
              <p14:xfrm>
                <a:off x="1157254" y="3435853"/>
                <a:ext cx="6111360" cy="454887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F9A1E6A-EE6D-5FAA-6F62-9EAA89AC30F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48254" y="3426856"/>
                  <a:ext cx="6129000" cy="472521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CE32F60-1717-D289-B799-2AF55DB98D2C}"/>
                </a:ext>
              </a:extLst>
            </p:cNvPr>
            <p:cNvSpPr txBox="1"/>
            <p:nvPr/>
          </p:nvSpPr>
          <p:spPr>
            <a:xfrm>
              <a:off x="7354753" y="3340130"/>
              <a:ext cx="157444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Efficiency variation &gt;&gt; rate variation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8DA4A-8D73-C58B-AF34-C03DBCF1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Exponentially fewer exposures before learning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C163BD-1845-BD47-F27D-356569FA6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091" y="686984"/>
            <a:ext cx="7065818" cy="423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7065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EA6A8-8E9E-6B82-37CB-948C51B41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Demographic variation across two parameters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E1398C-CB48-80D5-BBF5-F8D7C5B88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444" y="690439"/>
            <a:ext cx="8549640" cy="427482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0D2BD61F-7018-B4B3-118E-B493CD7D254D}"/>
              </a:ext>
            </a:extLst>
          </p:cNvPr>
          <p:cNvGrpSpPr/>
          <p:nvPr/>
        </p:nvGrpSpPr>
        <p:grpSpPr>
          <a:xfrm>
            <a:off x="1184564" y="2053936"/>
            <a:ext cx="7735929" cy="1256023"/>
            <a:chOff x="1184564" y="2053936"/>
            <a:chExt cx="7735929" cy="125602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2360109-9213-787B-75C8-6C9B69A7D1D8}"/>
                </a:ext>
              </a:extLst>
            </p:cNvPr>
            <p:cNvSpPr txBox="1"/>
            <p:nvPr/>
          </p:nvSpPr>
          <p:spPr>
            <a:xfrm>
              <a:off x="1184564" y="2940627"/>
              <a:ext cx="16099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Input-driven?? 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D8525AA-3EC0-820D-EA31-665271213D00}"/>
                </a:ext>
              </a:extLst>
            </p:cNvPr>
            <p:cNvSpPr txBox="1"/>
            <p:nvPr/>
          </p:nvSpPr>
          <p:spPr>
            <a:xfrm>
              <a:off x="6677891" y="2053936"/>
              <a:ext cx="22426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Intrinsic differences??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79363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Input quantity</a:t>
            </a:r>
          </a:p>
        </p:txBody>
      </p:sp>
    </p:spTree>
    <p:extLst>
      <p:ext uri="{BB962C8B-B14F-4D97-AF65-F5344CB8AC3E}">
        <p14:creationId xmlns:p14="http://schemas.microsoft.com/office/powerpoint/2010/main" val="19378956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pPr marL="0" lvl="0" indent="0">
                  <a:buNone/>
                </a:pPr>
                <a:r>
                  <a:t>Where does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t> come from? The input-rate prior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17647" b="-30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t>The kid-level intercept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log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log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t> has total variance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𝜉</m:t>
                        </m:r>
                      </m:sub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t> that the data </a:t>
                </a:r>
                <a:r>
                  <a:rPr i="1"/>
                  <a:t>does</a:t>
                </a:r>
                <a:r>
                  <a:t> identify. But the split between input rate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t>) and efficiency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t>) is not separately identified within the model: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𝜉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>
                          <a:latin typeface="Cambria Math" panose="02040503050406030204" pitchFamily="18" charset="0"/>
                        </a:rPr>
                        <m:t> = </m:t>
                      </m:r>
                      <m:sSubSup>
                        <m:sSub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 = 1−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sub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We resolve this by pinning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t> externally — from data quantifying actual variation in child-directed input rates across families. The model then partitions the data-identified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𝜉</m:t>
                        </m:r>
                      </m:sub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t> into input and efficiency components.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1254" t="-2649" b="-3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rPr b="1" dirty="0"/>
                  <a:t>The pin matters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b="1" dirty="0"/>
                  <a:t>.</a:t>
                </a:r>
              </a:p>
              <a:p>
                <a:pPr lvl="0"/>
                <a:r>
                  <a:rPr dirty="0"/>
                  <a:t>Bigger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dirty="0"/>
                  <a:t> more variance assigned to input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dirty="0"/>
                  <a:t> lower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dirty="0"/>
                  <a:t>.</a:t>
                </a:r>
              </a:p>
              <a:p>
                <a:pPr lvl="0"/>
                <a:r>
                  <a:rPr dirty="0"/>
                  <a:t>Pinning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dirty="0"/>
                  <a:t> </a:t>
                </a:r>
                <a:r>
                  <a:rPr i="1" dirty="0"/>
                  <a:t>too low</a:t>
                </a:r>
                <a:r>
                  <a:rPr dirty="0"/>
                  <a:t> would overstate efficiency’s share; </a:t>
                </a:r>
                <a:r>
                  <a:rPr i="1" dirty="0"/>
                  <a:t>too high</a:t>
                </a:r>
                <a:r>
                  <a:rPr dirty="0"/>
                  <a:t> would mask it.</a:t>
                </a:r>
                <a:endParaRPr lang="en-US" dirty="0"/>
              </a:p>
              <a:p>
                <a:pPr lvl="0"/>
                <a:endParaRPr dirty="0"/>
              </a:p>
              <a:p>
                <a:pPr marL="0" lvl="0" indent="0">
                  <a:buNone/>
                </a:pPr>
                <a:r>
                  <a:rPr b="1" dirty="0"/>
                  <a:t>Strategy.</a:t>
                </a:r>
                <a:r>
                  <a:rPr dirty="0"/>
                  <a:t> Compile the empirical literature on adult-token rates per child, derive a defensible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dirty="0"/>
                  <a:t>, and report a full sensitivity sweep so the headline doesn’t hinge on the central pin.</a:t>
                </a: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4"/>
                <a:stretch>
                  <a:fillRect l="-1572" t="-2649" r="-2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26226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D9088-C4E2-A0DC-6EC6-62FE98D8F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Estimating input variation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8972908-FC9E-B514-9FE2-CA0B8EFCB9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5690364"/>
              </p:ext>
            </p:extLst>
          </p:nvPr>
        </p:nvGraphicFramePr>
        <p:xfrm>
          <a:off x="208721" y="1160975"/>
          <a:ext cx="8726557" cy="2821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1479">
                  <a:extLst>
                    <a:ext uri="{9D8B030D-6E8A-4147-A177-3AD203B41FA5}">
                      <a16:colId xmlns:a16="http://schemas.microsoft.com/office/drawing/2014/main" val="555341406"/>
                    </a:ext>
                  </a:extLst>
                </a:gridCol>
                <a:gridCol w="1222513">
                  <a:extLst>
                    <a:ext uri="{9D8B030D-6E8A-4147-A177-3AD203B41FA5}">
                      <a16:colId xmlns:a16="http://schemas.microsoft.com/office/drawing/2014/main" val="2682617556"/>
                    </a:ext>
                  </a:extLst>
                </a:gridCol>
                <a:gridCol w="1080271">
                  <a:extLst>
                    <a:ext uri="{9D8B030D-6E8A-4147-A177-3AD203B41FA5}">
                      <a16:colId xmlns:a16="http://schemas.microsoft.com/office/drawing/2014/main" val="3331609180"/>
                    </a:ext>
                  </a:extLst>
                </a:gridCol>
                <a:gridCol w="301268">
                  <a:extLst>
                    <a:ext uri="{9D8B030D-6E8A-4147-A177-3AD203B41FA5}">
                      <a16:colId xmlns:a16="http://schemas.microsoft.com/office/drawing/2014/main" val="158702970"/>
                    </a:ext>
                  </a:extLst>
                </a:gridCol>
                <a:gridCol w="1028667">
                  <a:extLst>
                    <a:ext uri="{9D8B030D-6E8A-4147-A177-3AD203B41FA5}">
                      <a16:colId xmlns:a16="http://schemas.microsoft.com/office/drawing/2014/main" val="2451129380"/>
                    </a:ext>
                  </a:extLst>
                </a:gridCol>
                <a:gridCol w="801605">
                  <a:extLst>
                    <a:ext uri="{9D8B030D-6E8A-4147-A177-3AD203B41FA5}">
                      <a16:colId xmlns:a16="http://schemas.microsoft.com/office/drawing/2014/main" val="1657438937"/>
                    </a:ext>
                  </a:extLst>
                </a:gridCol>
                <a:gridCol w="858283">
                  <a:extLst>
                    <a:ext uri="{9D8B030D-6E8A-4147-A177-3AD203B41FA5}">
                      <a16:colId xmlns:a16="http://schemas.microsoft.com/office/drawing/2014/main" val="2394307104"/>
                    </a:ext>
                  </a:extLst>
                </a:gridCol>
                <a:gridCol w="858283">
                  <a:extLst>
                    <a:ext uri="{9D8B030D-6E8A-4147-A177-3AD203B41FA5}">
                      <a16:colId xmlns:a16="http://schemas.microsoft.com/office/drawing/2014/main" val="432459912"/>
                    </a:ext>
                  </a:extLst>
                </a:gridCol>
                <a:gridCol w="510112">
                  <a:extLst>
                    <a:ext uri="{9D8B030D-6E8A-4147-A177-3AD203B41FA5}">
                      <a16:colId xmlns:a16="http://schemas.microsoft.com/office/drawing/2014/main" val="1596961957"/>
                    </a:ext>
                  </a:extLst>
                </a:gridCol>
                <a:gridCol w="674076">
                  <a:extLst>
                    <a:ext uri="{9D8B030D-6E8A-4147-A177-3AD203B41FA5}">
                      <a16:colId xmlns:a16="http://schemas.microsoft.com/office/drawing/2014/main" val="3285998637"/>
                    </a:ext>
                  </a:extLst>
                </a:gridCol>
              </a:tblGrid>
              <a:tr h="1928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Source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Sample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Channel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tok/hr (mean)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tok/hr (±1 SD)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tok/mo (mean)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tok/mo (±1 SD)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σ_r (log)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1-SD factor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extLst>
                  <a:ext uri="{0D108BD9-81ED-4DB2-BD59-A6C34878D82A}">
                    <a16:rowId xmlns:a16="http://schemas.microsoft.com/office/drawing/2014/main" val="1294110967"/>
                  </a:ext>
                </a:extLst>
              </a:tr>
              <a:tr h="1928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Hart &amp; Risley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all pooled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mother CDS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42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1,148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546 – 2,410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419K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199K – 880K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0.74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2.10×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extLst>
                  <a:ext uri="{0D108BD9-81ED-4DB2-BD59-A6C34878D82A}">
                    <a16:rowId xmlns:a16="http://schemas.microsoft.com/office/drawing/2014/main" val="2505403862"/>
                  </a:ext>
                </a:extLst>
              </a:tr>
              <a:tr h="1928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Hart &amp; Risley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within-stratum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mother CDS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42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1,148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631 – 2,086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419K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230K – 761K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1.82×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extLst>
                  <a:ext uri="{0D108BD9-81ED-4DB2-BD59-A6C34878D82A}">
                    <a16:rowId xmlns:a16="http://schemas.microsoft.com/office/drawing/2014/main" val="2716365502"/>
                  </a:ext>
                </a:extLst>
              </a:tr>
              <a:tr h="1928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Soderstrom &amp; Wittebolle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all pooled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all speech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967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622 – 1,502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353K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227K – 548K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0.44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1.55×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extLst>
                  <a:ext uri="{0D108BD9-81ED-4DB2-BD59-A6C34878D82A}">
                    <a16:rowId xmlns:a16="http://schemas.microsoft.com/office/drawing/2014/main" val="2140912850"/>
                  </a:ext>
                </a:extLst>
              </a:tr>
              <a:tr h="1928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Sperry (PIN)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all pooled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adult-to-child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42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1,537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901 – 2,622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561K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329K – 957K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0.53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1.71×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extLst>
                  <a:ext uri="{0D108BD9-81ED-4DB2-BD59-A6C34878D82A}">
                    <a16:rowId xmlns:a16="http://schemas.microsoft.com/office/drawing/2014/main" val="3957434238"/>
                  </a:ext>
                </a:extLst>
              </a:tr>
              <a:tr h="1928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Sperry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within-stratum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adult-to-child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42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1,537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974 – 2,425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561K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356K – 885K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0.46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1.58×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extLst>
                  <a:ext uri="{0D108BD9-81ED-4DB2-BD59-A6C34878D82A}">
                    <a16:rowId xmlns:a16="http://schemas.microsoft.com/office/drawing/2014/main" val="927414495"/>
                  </a:ext>
                </a:extLst>
              </a:tr>
              <a:tr h="1928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Weisleder &amp; Fernald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all pooled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mother CDS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458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197 – 1,065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167K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72K – 389K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0.84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2.33×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extLst>
                  <a:ext uri="{0D108BD9-81ED-4DB2-BD59-A6C34878D82A}">
                    <a16:rowId xmlns:a16="http://schemas.microsoft.com/office/drawing/2014/main" val="55392239"/>
                  </a:ext>
                </a:extLst>
              </a:tr>
              <a:tr h="1928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Bergelson (SEEDLingS LENA)*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US 13–18 </a:t>
                      </a:r>
                      <a:r>
                        <a:rPr lang="en-US" sz="1200" u="none" strike="noStrike" dirty="0" err="1">
                          <a:effectLst/>
                        </a:rPr>
                        <a:t>mo</a:t>
                      </a:r>
                      <a:r>
                        <a:rPr lang="en-US" sz="1200" u="none" strike="noStrike" dirty="0">
                          <a:effectLst/>
                        </a:rPr>
                        <a:t> daylong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LENA AWC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44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1,100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650 – 1,850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400K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240K – 675K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0.52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1.68×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extLst>
                  <a:ext uri="{0D108BD9-81ED-4DB2-BD59-A6C34878D82A}">
                    <a16:rowId xmlns:a16="http://schemas.microsoft.com/office/drawing/2014/main" val="2014421247"/>
                  </a:ext>
                </a:extLst>
              </a:tr>
              <a:tr h="1928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Casillas (Tseltal Mayan)*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Chiapas daylong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adult-to-child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500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170 – 1,500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180K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62K – 550K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1.09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2.97×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extLst>
                  <a:ext uri="{0D108BD9-81ED-4DB2-BD59-A6C34878D82A}">
                    <a16:rowId xmlns:a16="http://schemas.microsoft.com/office/drawing/2014/main" val="1624690940"/>
                  </a:ext>
                </a:extLst>
              </a:tr>
              <a:tr h="1928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Bunce et al. 2024 (meta)*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11 communities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adult-to-child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82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900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280 – 2,900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330K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100K – 1,060K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1.18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3.25×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5731" marR="5731" marT="5731" marB="0" anchor="b"/>
                </a:tc>
                <a:extLst>
                  <a:ext uri="{0D108BD9-81ED-4DB2-BD59-A6C34878D82A}">
                    <a16:rowId xmlns:a16="http://schemas.microsoft.com/office/drawing/2014/main" val="42844735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18756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pPr marL="0" lvl="0" indent="0">
                  <a:buNone/>
                </a:pPr>
                <a:r>
                  <a:t>Sensitivity: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t> across plausible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/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667" t="-13636" b="-34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1" descr="sigma_r_analytical_sensitivity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1664" y="828773"/>
            <a:ext cx="6504207" cy="366117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6777872" y="1647923"/>
                <a:ext cx="2139885" cy="2022873"/>
              </a:xfrm>
            </p:spPr>
            <p:txBody>
              <a:bodyPr>
                <a:normAutofit fontScale="62500" lnSpcReduction="20000"/>
              </a:bodyPr>
              <a:lstStyle/>
              <a:p>
                <a:pPr marL="0" lvl="0" indent="0">
                  <a:buNone/>
                </a:pPr>
                <a:r>
                  <a:rPr b="1" dirty="0"/>
                  <a:t>Central pin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=0.534</m:t>
                    </m:r>
                  </m:oMath>
                </a14:m>
                <a:r>
                  <a:rPr b="1" dirty="0"/>
                  <a:t>: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≈0.91</m:t>
                    </m:r>
                    <m:r>
                      <a:rPr>
                        <a:latin typeface="Cambria Math" panose="02040503050406030204" pitchFamily="18" charset="0"/>
                      </a:rPr>
                      <m:t>​</m:t>
                    </m:r>
                    <m:r>
                      <a:rPr>
                        <a:latin typeface="Cambria Math" panose="02040503050406030204" pitchFamily="18" charset="0"/>
                      </a:rPr>
                      <m:t>−</m:t>
                    </m:r>
                    <m:r>
                      <a:rPr>
                        <a:latin typeface="Cambria Math" panose="02040503050406030204" pitchFamily="18" charset="0"/>
                      </a:rPr>
                      <m:t>​</m:t>
                    </m:r>
                    <m:r>
                      <a:rPr>
                        <a:latin typeface="Cambria Math" panose="02040503050406030204" pitchFamily="18" charset="0"/>
                      </a:rPr>
                      <m:t>0.94</m:t>
                    </m:r>
                  </m:oMath>
                </a14:m>
                <a:r>
                  <a:rPr dirty="0"/>
                  <a:t>.</a:t>
                </a:r>
              </a:p>
              <a:p>
                <a:pPr marL="0" lvl="0" indent="0">
                  <a:buNone/>
                </a:pPr>
                <a:endParaRPr lang="en-US" b="1" dirty="0"/>
              </a:p>
              <a:p>
                <a:pPr marL="0" lvl="0" indent="0">
                  <a:buNone/>
                </a:pPr>
                <a:r>
                  <a:rPr b="1" dirty="0"/>
                  <a:t>Doubled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=1.2</m:t>
                    </m:r>
                  </m:oMath>
                </a14:m>
                <a:r>
                  <a:rPr b="1" dirty="0"/>
                  <a:t> (cross-cultural upper bound):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dirty="0"/>
                  <a:t> still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&gt;0.55</m:t>
                    </m:r>
                  </m:oMath>
                </a14:m>
                <a:r>
                  <a:rPr dirty="0"/>
                  <a:t>.</a:t>
                </a:r>
              </a:p>
              <a:p>
                <a:pPr marL="0" lvl="0" indent="0">
                  <a:buNone/>
                </a:pPr>
                <a:endParaRPr lang="en-US" b="1" dirty="0"/>
              </a:p>
              <a:p>
                <a:pPr marL="0" lvl="0" indent="0">
                  <a:buNone/>
                </a:pPr>
                <a:r>
                  <a:rPr b="1" dirty="0"/>
                  <a:t>Halved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=0.30</m:t>
                    </m:r>
                  </m:oMath>
                </a14:m>
                <a:r>
                  <a:rPr b="1" dirty="0"/>
                  <a:t> (below any defensible single-site SD):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≈0.97</m:t>
                    </m:r>
                  </m:oMath>
                </a14:m>
                <a:r>
                  <a:rPr dirty="0"/>
                  <a:t>.</a:t>
                </a: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777872" y="1647923"/>
                <a:ext cx="2139885" cy="2022873"/>
              </a:xfrm>
              <a:blipFill>
                <a:blip r:embed="rId4"/>
                <a:stretch>
                  <a:fillRect l="-588" t="-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83480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Caveat: input </a:t>
            </a:r>
            <a:r>
              <a:rPr i="1" dirty="0"/>
              <a:t>quantity</a:t>
            </a:r>
            <a:r>
              <a:rPr dirty="0"/>
              <a:t>, not </a:t>
            </a:r>
            <a:r>
              <a:rPr i="1" dirty="0"/>
              <a:t>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lvl="0" indent="0">
              <a:buNone/>
            </a:pPr>
            <a:r>
              <a:rPr lang="en-US" dirty="0"/>
              <a:t>Haven't modeled variation in input quality — diversity, contingency, conversational structure, child-directed register. Two distinct effects: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b="1" dirty="0"/>
              <a:t>1. Constant per-child quality — refines what </a:t>
            </a:r>
            <a:r>
              <a:rPr lang="el-GR" b="1" dirty="0" err="1"/>
              <a:t>σ_α</a:t>
            </a:r>
            <a:r>
              <a:rPr lang="el-GR" b="1" dirty="0"/>
              <a:t> </a:t>
            </a:r>
            <a:r>
              <a:rPr lang="en-US" b="1" dirty="0"/>
              <a:t>is</a:t>
            </a:r>
          </a:p>
          <a:p>
            <a:pPr marL="0" lvl="0" indent="0">
              <a:buNone/>
            </a:pPr>
            <a:r>
              <a:rPr lang="en-US" dirty="0"/>
              <a:t>Fixed multiplier on input: </a:t>
            </a:r>
            <a:r>
              <a:rPr lang="en-US" dirty="0" err="1"/>
              <a:t>q_i</a:t>
            </a:r>
            <a:r>
              <a:rPr lang="en-US" dirty="0"/>
              <a:t> constant in age - indistinguishable from </a:t>
            </a:r>
            <a:r>
              <a:rPr lang="el-GR" dirty="0" err="1"/>
              <a:t>σ_α</a:t>
            </a:r>
            <a:r>
              <a:rPr lang="en-US" dirty="0"/>
              <a:t>. So part of the </a:t>
            </a:r>
            <a:r>
              <a:rPr lang="el-GR" dirty="0" err="1"/>
              <a:t>σ_α</a:t>
            </a:r>
            <a:r>
              <a:rPr lang="el-GR" dirty="0"/>
              <a:t> </a:t>
            </a:r>
            <a:r>
              <a:rPr lang="en-US" dirty="0"/>
              <a:t>we report could be hidden quality variance: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target </a:t>
            </a:r>
            <a:r>
              <a:rPr lang="el-GR" dirty="0" err="1"/>
              <a:t>π_α</a:t>
            </a:r>
            <a:r>
              <a:rPr lang="el-GR" dirty="0"/>
              <a:t>	</a:t>
            </a:r>
            <a:r>
              <a:rPr lang="en-US" dirty="0"/>
              <a:t>	</a:t>
            </a:r>
            <a:r>
              <a:rPr lang="el-GR" dirty="0"/>
              <a:t>σ_</a:t>
            </a:r>
            <a:r>
              <a:rPr lang="en-US" dirty="0"/>
              <a:t>q needed	per-SD factor on quality</a:t>
            </a:r>
          </a:p>
          <a:p>
            <a:pPr marL="0" lvl="0" indent="0">
              <a:buNone/>
            </a:pPr>
            <a:r>
              <a:rPr lang="en-US" dirty="0"/>
              <a:t>0.90			0.27			1.31×</a:t>
            </a:r>
          </a:p>
          <a:p>
            <a:pPr marL="0" lvl="0" indent="0">
              <a:buNone/>
            </a:pPr>
            <a:r>
              <a:rPr lang="en-US" dirty="0"/>
              <a:t>0.70			0.88			2.42×</a:t>
            </a:r>
          </a:p>
          <a:p>
            <a:pPr marL="0" lvl="0" indent="0">
              <a:buNone/>
            </a:pPr>
            <a:r>
              <a:rPr lang="en-US" dirty="0"/>
              <a:t>0.50			1.22			3.40×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For </a:t>
            </a:r>
            <a:r>
              <a:rPr lang="el-GR" dirty="0" err="1"/>
              <a:t>π_α</a:t>
            </a:r>
            <a:r>
              <a:rPr lang="el-GR" dirty="0"/>
              <a:t> </a:t>
            </a:r>
            <a:r>
              <a:rPr lang="en-US" dirty="0"/>
              <a:t>to drop below 0.5, kid-to-kid quality variation would need </a:t>
            </a:r>
            <a:r>
              <a:rPr lang="el-GR" dirty="0"/>
              <a:t>σ_</a:t>
            </a:r>
            <a:r>
              <a:rPr lang="en-US" dirty="0"/>
              <a:t>q ≈ 1.22 — more than 2× as much as measured input-rate variation (</a:t>
            </a:r>
            <a:r>
              <a:rPr lang="el-GR" dirty="0"/>
              <a:t>σ_</a:t>
            </a:r>
            <a:r>
              <a:rPr lang="en-US" dirty="0"/>
              <a:t>r ≈ 0.53).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b="1" dirty="0"/>
              <a:t>2. Age-varying quality — competes with </a:t>
            </a:r>
            <a:r>
              <a:rPr lang="el-GR" b="1" dirty="0"/>
              <a:t>κ (</a:t>
            </a:r>
            <a:r>
              <a:rPr lang="en-US" b="1" dirty="0"/>
              <a:t>acceleration)</a:t>
            </a:r>
          </a:p>
          <a:p>
            <a:pPr marL="0" lvl="0" indent="0">
              <a:buNone/>
            </a:pPr>
            <a:r>
              <a:rPr lang="en-US" dirty="0"/>
              <a:t>A quality multiplier that grows with age is equivalent to a steeper </a:t>
            </a:r>
            <a:r>
              <a:rPr lang="el-GR" dirty="0"/>
              <a:t>κ_</a:t>
            </a:r>
            <a:r>
              <a:rPr lang="en-US" dirty="0" err="1"/>
              <a:t>i</a:t>
            </a:r>
            <a:r>
              <a:rPr lang="en-US" dirty="0"/>
              <a:t>. To absorb the observed acceleration into a quality story, "quality" would have to grow ~3,000× for the median kid,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Quality might explain part of </a:t>
            </a:r>
            <a:r>
              <a:rPr lang="el-GR" dirty="0" err="1"/>
              <a:t>σ_α</a:t>
            </a:r>
            <a:r>
              <a:rPr lang="en-US" dirty="0"/>
              <a:t> but cannot explain acceleration.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653522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Extensions: directly observed input and processing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M</a:t>
                </a:r>
                <a:r>
                  <a:rPr dirty="0"/>
                  <a:t>odel extensions: testing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dirty="0"/>
                  <a:t> with richer data</a:t>
                </a:r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667" t="-13636" b="-34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lvl="0" indent="0">
                  <a:buNone/>
                </a:pPr>
                <a:r>
                  <a:rPr dirty="0"/>
                  <a:t>Wordbank longitudinal fits use </a:t>
                </a:r>
                <a:r>
                  <a:rPr i="1" dirty="0"/>
                  <a:t>population-level</a:t>
                </a:r>
                <a:r>
                  <a:rPr dirty="0"/>
                  <a:t> input rate priors (Sperry/Hart-Risley/</a:t>
                </a:r>
                <a:r>
                  <a:rPr dirty="0" err="1"/>
                  <a:t>Weisleder</a:t>
                </a:r>
                <a:r>
                  <a:rPr dirty="0"/>
                  <a:t>-Fernald). </a:t>
                </a:r>
                <a:endParaRPr lang="en-US" dirty="0"/>
              </a:p>
              <a:p>
                <a:pPr marL="0" lvl="0" indent="0">
                  <a:buNone/>
                </a:pPr>
                <a:endParaRPr lang="en-US" dirty="0"/>
              </a:p>
              <a:p>
                <a:pPr marL="0" lvl="0" indent="0">
                  <a:buNone/>
                </a:pPr>
                <a:r>
                  <a:rPr dirty="0"/>
                  <a:t>Two natural follow-ups:</a:t>
                </a:r>
              </a:p>
              <a:p>
                <a:pPr marL="342900" lvl="0" indent="-342900">
                  <a:buAutoNum type="arabicPeriod"/>
                </a:pPr>
                <a:r>
                  <a:rPr b="1" dirty="0"/>
                  <a:t>Per-child observed input</a:t>
                </a:r>
                <a:r>
                  <a:rPr dirty="0"/>
                  <a:t>: use </a:t>
                </a:r>
                <a:r>
                  <a:rPr i="1" dirty="0"/>
                  <a:t>measured</a:t>
                </a:r>
                <a:r>
                  <a:rPr dirty="0"/>
                  <a:t> per-child input rate instead of a population prior. Does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dirty="0"/>
                  <a:t> stay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∼</m:t>
                    </m:r>
                  </m:oMath>
                </a14:m>
                <a:r>
                  <a:rPr dirty="0"/>
                  <a:t> 0.9 when input is no longer a pooled estimate?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b="1" dirty="0"/>
                  <a:t> BabyView, </a:t>
                </a:r>
                <a:r>
                  <a:rPr b="1" dirty="0" err="1"/>
                  <a:t>SEEDLingS</a:t>
                </a:r>
                <a:r>
                  <a:rPr b="1" dirty="0"/>
                  <a:t>.</a:t>
                </a:r>
                <a:endParaRPr lang="en-US" b="1" dirty="0"/>
              </a:p>
              <a:p>
                <a:pPr marL="342900" lvl="0" indent="-342900">
                  <a:buAutoNum type="arabicPeriod"/>
                </a:pPr>
                <a:endParaRPr b="1" dirty="0"/>
              </a:p>
              <a:p>
                <a:pPr marL="342900" lvl="0" indent="-342900">
                  <a:buAutoNum type="arabicPeriod"/>
                </a:pPr>
                <a:r>
                  <a:rPr b="1" dirty="0"/>
                  <a:t>Per-child processing efficiency</a:t>
                </a:r>
                <a:r>
                  <a:rPr dirty="0"/>
                  <a:t>: link CDI growth to an independent per-child readout of processing speed. Does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dirty="0"/>
                  <a:t> we estimate from CDI reflect “processing efficiency” or something else?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b="1" dirty="0"/>
                  <a:t> Peekbank.</a:t>
                </a:r>
              </a:p>
              <a:p>
                <a:pPr marL="0" lvl="0" indent="0">
                  <a:buNone/>
                </a:pPr>
                <a:endParaRPr lang="en-US" dirty="0"/>
              </a:p>
              <a:p>
                <a:pPr marL="0" lvl="0" indent="0">
                  <a:buNone/>
                </a:pPr>
                <a:r>
                  <a:rPr dirty="0"/>
                  <a:t>Both extensions reuse the same model machinery with an added channel in the linear predictor; only the data and the per-child </a:t>
                </a:r>
                <a:r>
                  <a:rPr dirty="0" err="1"/>
                  <a:t>latents</a:t>
                </a:r>
                <a:r>
                  <a:rPr dirty="0"/>
                  <a:t> change.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17" t="-1961" r="-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Replicating with directly observed input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167519"/>
                <a:ext cx="4040188" cy="479822"/>
              </a:xfrm>
            </p:spPr>
            <p:txBody>
              <a:bodyPr>
                <a:normAutofit fontScale="92500"/>
              </a:bodyPr>
              <a:lstStyle/>
              <a:p>
                <a:pPr marL="0" lvl="0" indent="0">
                  <a:buNone/>
                </a:pPr>
                <a:r>
                  <a:rPr b="1"/>
                  <a:t>BabyView,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𝑁</m:t>
                    </m:r>
                    <m:r>
                      <a:rPr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endParaRPr b="1"/>
              </a:p>
            </p:txBody>
          </p:sp>
        </mc:Choice>
        <mc:Fallback>
          <p:sp>
            <p:nvSpPr>
              <p:cNvPr id="3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167519"/>
                <a:ext cx="4040188" cy="479822"/>
              </a:xfrm>
              <a:blipFill>
                <a:blip r:embed="rId2"/>
                <a:stretch>
                  <a:fillRect l="-940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1" descr="babyview_io_input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2108536"/>
            <a:ext cx="4038600" cy="252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57200" y="1647340"/>
                <a:ext cx="4040188" cy="2963466"/>
              </a:xfrm>
            </p:spPr>
            <p:txBody>
              <a:bodyPr/>
              <a:lstStyle/>
              <a:p>
                <a:pPr marL="0" lv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=0.84</m:t>
                    </m:r>
                  </m:oMath>
                </a14:m>
                <a:r>
                  <a:rPr dirty="0"/>
                  <a:t>,</a:t>
                </a:r>
                <a:r>
                  <a:rPr lang="en-US" dirty="0"/>
                  <a:t> </a:t>
                </a:r>
                <a:r>
                  <a:rPr dirty="0"/>
                  <a:t>[0.68, 0.93]</a:t>
                </a: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57200" y="1647340"/>
                <a:ext cx="4040188" cy="2963466"/>
              </a:xfrm>
              <a:blipFill>
                <a:blip r:embed="rId4"/>
                <a:stretch>
                  <a:fillRect t="-8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Placeholder 4"/>
              <p:cNvSpPr>
                <a:spLocks noGrp="1"/>
              </p:cNvSpPr>
              <p:nvPr>
                <p:ph type="body" sz="quarter" idx="3"/>
              </p:nvPr>
            </p:nvSpPr>
            <p:spPr>
              <a:xfrm>
                <a:off x="4645026" y="1167519"/>
                <a:ext cx="4041775" cy="479822"/>
              </a:xfrm>
            </p:spPr>
            <p:txBody>
              <a:bodyPr>
                <a:normAutofit fontScale="92500"/>
              </a:bodyPr>
              <a:lstStyle/>
              <a:p>
                <a:pPr marL="0" lvl="0" indent="0">
                  <a:buNone/>
                </a:pPr>
                <a:r>
                  <a:rPr b="1"/>
                  <a:t>SEEDLingS,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𝑁</m:t>
                    </m:r>
                    <m:r>
                      <a:rPr>
                        <a:latin typeface="Cambria Math" panose="02040503050406030204" pitchFamily="18" charset="0"/>
                      </a:rPr>
                      <m:t>=44</m:t>
                    </m:r>
                  </m:oMath>
                </a14:m>
                <a:r>
                  <a:rPr b="1"/>
                  <a:t> (comp corrected)</a:t>
                </a:r>
              </a:p>
            </p:txBody>
          </p:sp>
        </mc:Choice>
        <mc:Fallback>
          <p:sp>
            <p:nvSpPr>
              <p:cNvPr id="5" name="Tex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3"/>
              </p:nvPr>
            </p:nvSpPr>
            <p:spPr>
              <a:xfrm>
                <a:off x="4645026" y="1167519"/>
                <a:ext cx="4041775" cy="479822"/>
              </a:xfrm>
              <a:blipFill>
                <a:blip r:embed="rId5"/>
                <a:stretch>
                  <a:fillRect l="-940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1" descr="seedlings_io_input.png"/>
          <p:cNvPicPr>
            <a:picLocks noGrp="1" noChangeAspect="1"/>
          </p:cNvPicPr>
          <p:nvPr/>
        </p:nvPicPr>
        <p:blipFill>
          <a:blip r:embed="rId6"/>
          <a:stretch>
            <a:fillRect/>
          </a:stretch>
        </p:blipFill>
        <p:spPr bwMode="auto">
          <a:xfrm>
            <a:off x="4635500" y="2108536"/>
            <a:ext cx="4038600" cy="252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/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4645026" y="1647340"/>
                <a:ext cx="4041775" cy="2963466"/>
              </a:xfrm>
            </p:spPr>
            <p:txBody>
              <a:bodyPr/>
              <a:lstStyle/>
              <a:p>
                <a:pPr marL="0" lv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=0.94</m:t>
                    </m:r>
                  </m:oMath>
                </a14:m>
                <a:r>
                  <a:rPr dirty="0"/>
                  <a:t>,</a:t>
                </a:r>
                <a:r>
                  <a:rPr lang="en-US" dirty="0"/>
                  <a:t> </a:t>
                </a:r>
                <a:r>
                  <a:rPr dirty="0"/>
                  <a:t>[0.89, 0.97]</a:t>
                </a:r>
              </a:p>
            </p:txBody>
          </p:sp>
        </mc:Choice>
        <mc:Fallback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4645026" y="1647340"/>
                <a:ext cx="4041775" cy="2963466"/>
              </a:xfrm>
              <a:blipFill>
                <a:blip r:embed="rId7"/>
                <a:stretch>
                  <a:fillRect t="-8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D8FAB-7449-A6E2-2240-9DE9D524B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E94A891-A239-DC4E-9A67-7C999DD29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Minimal input effects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744BA7-5ECD-76AA-1617-653A6BAEC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34" y="741860"/>
            <a:ext cx="8549640" cy="391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2783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lang="en-US" dirty="0"/>
              <a:t>P</a:t>
            </a:r>
            <a:r>
              <a:rPr dirty="0"/>
              <a:t>rocessing</a:t>
            </a:r>
            <a:r>
              <a:rPr lang="en-US" dirty="0"/>
              <a:t> </a:t>
            </a:r>
            <a:r>
              <a:rPr dirty="0"/>
              <a:t>speed readout: Peekbank LWL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rPr b="1" dirty="0"/>
                  <a:t>Joint model adds a per-child LWL log-RT readout coupled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log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b="1" dirty="0"/>
                  <a:t> via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𝑟𝑡</m:t>
                        </m:r>
                      </m:sub>
                    </m:sSub>
                  </m:oMath>
                </a14:m>
                <a:r>
                  <a:rPr b="1" dirty="0"/>
                  <a:t>.</a:t>
                </a:r>
                <a:endParaRPr lang="en-US" b="1" dirty="0"/>
              </a:p>
              <a:p>
                <a:pPr marL="0" lvl="0" indent="0">
                  <a:buNone/>
                </a:pPr>
                <a:endParaRPr b="1" dirty="0"/>
              </a:p>
              <a:p>
                <a:r>
                  <a:rPr lang="en-US" dirty="0" err="1"/>
                  <a:t>γ_rt</a:t>
                </a:r>
                <a:r>
                  <a:rPr lang="en-US" dirty="0"/>
                  <a:t> = 0.084, [0.044, 0.125] </a:t>
                </a:r>
              </a:p>
              <a:p>
                <a:pPr lvl="1"/>
                <a:r>
                  <a:rPr lang="en-US" dirty="0"/>
                  <a:t>vocab efficiency </a:t>
                </a:r>
                <a:r>
                  <a:rPr lang="en-US" i="1" dirty="0"/>
                  <a:t>level</a:t>
                </a:r>
                <a:r>
                  <a:rPr lang="en-US" dirty="0"/>
                  <a:t> (log α) and processing-speed </a:t>
                </a:r>
                <a:r>
                  <a:rPr lang="en-US" i="1" dirty="0"/>
                  <a:t>level</a:t>
                </a:r>
                <a:r>
                  <a:rPr lang="en-US" dirty="0"/>
                  <a:t> (RT intercept) are coupled: ~13% RT speedup per SD of α.</a:t>
                </a:r>
              </a:p>
              <a:p>
                <a:r>
                  <a:rPr lang="en-US" dirty="0"/>
                  <a:t>π_α = 0.90, [0.86, 0.94] — replicates within Peekbank.</a:t>
                </a:r>
              </a:p>
              <a:p>
                <a:r>
                  <a:rPr lang="en-US" dirty="0" err="1"/>
                  <a:t>ρ</a:t>
                </a:r>
                <a:r>
                  <a:rPr lang="en-US" dirty="0"/>
                  <a:t>(</a:t>
                </a:r>
                <a:r>
                  <a:rPr lang="en-US" dirty="0" err="1"/>
                  <a:t>ζ</a:t>
                </a:r>
                <a:r>
                  <a:rPr lang="en-US" dirty="0"/>
                  <a:t>, </a:t>
                </a:r>
                <a:r>
                  <a:rPr lang="en-US" dirty="0" err="1"/>
                  <a:t>rtslope</a:t>
                </a:r>
                <a:r>
                  <a:rPr lang="en-US" dirty="0"/>
                  <a:t>) = +0.05, [−0.26, +0.34] </a:t>
                </a:r>
              </a:p>
              <a:p>
                <a:pPr lvl="1"/>
                <a:r>
                  <a:rPr lang="en-US" dirty="0"/>
                  <a:t>but vocab acceleration and RT </a:t>
                </a:r>
                <a:r>
                  <a:rPr lang="en-US" i="1" dirty="0"/>
                  <a:t>maturation</a:t>
                </a:r>
                <a:r>
                  <a:rPr lang="en-US" dirty="0"/>
                  <a:t> are uncoupled.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254" t="-2649" r="-9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Shared efficiency (intercept), distinct efficiency change (slopes)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Replicates Peekbank paper (Frank et al., 2026, </a:t>
            </a:r>
            <a:r>
              <a:rPr lang="en-US" i="1" dirty="0" err="1"/>
              <a:t>eLife</a:t>
            </a:r>
            <a:r>
              <a:rPr lang="en-US" dirty="0"/>
              <a:t>): higher RT = bigger vocab per age, but not faster </a:t>
            </a:r>
            <a:r>
              <a:rPr lang="en-US" i="1" dirty="0"/>
              <a:t>growth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90A1586-ADFE-042C-8DE2-85C707DDD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Peekbank RT results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E63FF14-F72D-B309-39A5-6F294371D7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6648" y="714375"/>
            <a:ext cx="5290704" cy="387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5987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79C2C13-371A-E42B-5DB1-869B8BE88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Good fits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5FB4585-199C-86BF-6460-0E208C915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" y="1045029"/>
            <a:ext cx="8549640" cy="3053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2152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pPr marL="0" lv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t> across five samples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13636" b="-34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C484173-8A23-B4C3-7D66-E2CA6DDB13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00936"/>
              </p:ext>
            </p:extLst>
          </p:nvPr>
        </p:nvGraphicFramePr>
        <p:xfrm>
          <a:off x="92212" y="1589453"/>
          <a:ext cx="8959575" cy="16634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3995">
                  <a:extLst>
                    <a:ext uri="{9D8B030D-6E8A-4147-A177-3AD203B41FA5}">
                      <a16:colId xmlns:a16="http://schemas.microsoft.com/office/drawing/2014/main" val="904282111"/>
                    </a:ext>
                  </a:extLst>
                </a:gridCol>
                <a:gridCol w="1834558">
                  <a:extLst>
                    <a:ext uri="{9D8B030D-6E8A-4147-A177-3AD203B41FA5}">
                      <a16:colId xmlns:a16="http://schemas.microsoft.com/office/drawing/2014/main" val="3736080274"/>
                    </a:ext>
                  </a:extLst>
                </a:gridCol>
                <a:gridCol w="1848678">
                  <a:extLst>
                    <a:ext uri="{9D8B030D-6E8A-4147-A177-3AD203B41FA5}">
                      <a16:colId xmlns:a16="http://schemas.microsoft.com/office/drawing/2014/main" val="2047699707"/>
                    </a:ext>
                  </a:extLst>
                </a:gridCol>
                <a:gridCol w="1401418">
                  <a:extLst>
                    <a:ext uri="{9D8B030D-6E8A-4147-A177-3AD203B41FA5}">
                      <a16:colId xmlns:a16="http://schemas.microsoft.com/office/drawing/2014/main" val="3445564999"/>
                    </a:ext>
                  </a:extLst>
                </a:gridCol>
                <a:gridCol w="1480930">
                  <a:extLst>
                    <a:ext uri="{9D8B030D-6E8A-4147-A177-3AD203B41FA5}">
                      <a16:colId xmlns:a16="http://schemas.microsoft.com/office/drawing/2014/main" val="3308511503"/>
                    </a:ext>
                  </a:extLst>
                </a:gridCol>
                <a:gridCol w="1179996">
                  <a:extLst>
                    <a:ext uri="{9D8B030D-6E8A-4147-A177-3AD203B41FA5}">
                      <a16:colId xmlns:a16="http://schemas.microsoft.com/office/drawing/2014/main" val="3397441840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Parameter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EN </a:t>
                      </a:r>
                      <a:r>
                        <a:rPr lang="en-US" sz="1200" b="1" u="none" strike="noStrike" dirty="0" err="1">
                          <a:effectLst/>
                        </a:rPr>
                        <a:t>M_best</a:t>
                      </a:r>
                      <a:r>
                        <a:rPr lang="en-US" sz="1200" b="1" u="none" strike="noStrike" dirty="0">
                          <a:effectLst/>
                        </a:rPr>
                        <a:t> (I=500)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NO M_best (I=500)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BabyView (IO)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SEEDLingS (IO)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Peekbank (proc)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8568918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I (kids)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500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500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44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9442749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J (items)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671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674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200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23535007"/>
                  </a:ext>
                </a:extLst>
              </a:tr>
              <a:tr h="2410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N (</a:t>
                      </a:r>
                      <a:r>
                        <a:rPr lang="en-US" sz="1200" u="none" strike="noStrike" dirty="0" err="1">
                          <a:effectLst/>
                        </a:rPr>
                        <a:t>obs</a:t>
                      </a:r>
                      <a:r>
                        <a:rPr lang="en-US" sz="1200" u="none" strike="noStrike" dirty="0">
                          <a:effectLst/>
                        </a:rPr>
                        <a:t>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1106805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2056872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16459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102800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20600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249049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kappa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10.31 [10.25, 10.37]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11.47 [11.40, 11.53]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6.42 [5.98, 6.87]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8.19 [7.82, 8.57]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2.51 [1.60, 3.38]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7290250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sigma_alpha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1.81 [1.69, 1.94]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2.05 [1.93, 2.18]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1.13 [0.82, 1.56]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1.39 [1.12, 1.74]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1.67 [1.35, 2.03]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633419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sigma_zeta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3.81 [3.58, 4.07]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4.79 [4.49, 5.13]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2.57 [1.92, 3.39]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3.97 [3.32, 4.70]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6.42 [5.34, 7.54]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5458859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pi_alpha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0.92 [0.91, 0.93]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0.94 [0.93, 0.94]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0.83 [0.66, 0.93]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0.94 [0.89, 0.97]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0.90 [0.86, 0.94]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5591879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Connecting to LLMs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Why look at LLMs?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rPr dirty="0"/>
                  <a:t>LLMs and children both learn word meanings from input. They differ in scale and architecture, but the question of how their learning scales with input is statistically well-posed:</a:t>
                </a:r>
                <a:endParaRPr lang="en-US" dirty="0"/>
              </a:p>
              <a:p>
                <a:pPr marL="0" lvl="0" indent="0">
                  <a:buNone/>
                </a:pPr>
                <a:endParaRPr dirty="0"/>
              </a:p>
              <a:p>
                <a:pPr lvl="0"/>
                <a:r>
                  <a:rPr dirty="0"/>
                  <a:t>For an LM and a word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dirty="0"/>
                  <a:t>, we have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m:rPr>
                            <m:nor/>
                          </m:rPr>
                          <a:rPr/>
                          <m:t> </m:t>
                        </m:r>
                        <m:r>
                          <m:rPr>
                            <m:nor/>
                          </m:rPr>
                          <a:rPr/>
                          <m:t>produced</m:t>
                        </m:r>
                        <m:r>
                          <m:rPr>
                            <m:nor/>
                          </m:rPr>
                          <a:rPr/>
                          <m:t> </m:t>
                        </m:r>
                        <m:r>
                          <m:rPr>
                            <m:nor/>
                          </m:rPr>
                          <a:rPr/>
                          <m:t>correctly</m:t>
                        </m:r>
                      </m:e>
                    </m:d>
                  </m:oMath>
                </a14:m>
                <a:r>
                  <a:rPr dirty="0"/>
                  <a:t> as a function of training tokens.</a:t>
                </a:r>
              </a:p>
              <a:p>
                <a:pPr lvl="0"/>
                <a:r>
                  <a:rPr dirty="0"/>
                  <a:t>This is a sigmoid in log-tokens with a per-word slope.</a:t>
                </a:r>
              </a:p>
              <a:p>
                <a:pPr lvl="0"/>
                <a:r>
                  <a:rPr dirty="0"/>
                  <a:t>The same statistic exists for human children: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m:rPr>
                            <m:nor/>
                          </m:rPr>
                          <a:rPr/>
                          <m:t> </m:t>
                        </m:r>
                        <m:r>
                          <m:rPr>
                            <m:nor/>
                          </m:rPr>
                          <a:rPr/>
                          <m:t>acquired</m:t>
                        </m:r>
                      </m:e>
                    </m:d>
                  </m:oMath>
                </a14:m>
                <a:r>
                  <a:rPr dirty="0"/>
                  <a:t> as a function of cumulative input.</a:t>
                </a:r>
              </a:p>
              <a:p>
                <a:pPr marL="0" lvl="0" indent="0">
                  <a:buNone/>
                </a:pPr>
                <a:endParaRPr lang="en-US" b="1" dirty="0"/>
              </a:p>
              <a:p>
                <a:pPr marL="0" lvl="0" indent="0">
                  <a:buNone/>
                </a:pPr>
                <a:r>
                  <a:rPr b="1" dirty="0"/>
                  <a:t>This lets us put kids and LMs on the same axis</a:t>
                </a:r>
                <a:r>
                  <a:rPr lang="en-US" dirty="0"/>
                  <a:t>:</a:t>
                </a:r>
                <a:endParaRPr dirty="0"/>
              </a:p>
              <a:p>
                <a:pPr marL="342900" lvl="0" indent="-342900">
                  <a:buAutoNum type="arabicPeriod"/>
                </a:pPr>
                <a:r>
                  <a:rPr dirty="0"/>
                  <a:t>Do kids and LMs have similar per-word acquisition slopes?</a:t>
                </a:r>
              </a:p>
              <a:p>
                <a:pPr marL="342900" lvl="0" indent="-342900">
                  <a:buAutoNum type="arabicPeriod"/>
                </a:pPr>
                <a:r>
                  <a:rPr dirty="0"/>
                  <a:t>Does a model that fits kids’ learning say anything about LMs?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2" t="-2614" r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lang="en-US" dirty="0"/>
              <a:t>Chang &amp; Bergen: P</a:t>
            </a:r>
            <a:r>
              <a:rPr dirty="0"/>
              <a:t>er-word </a:t>
            </a:r>
            <a:r>
              <a:rPr dirty="0" err="1"/>
              <a:t>sigmoids</a:t>
            </a:r>
            <a:r>
              <a:rPr dirty="0"/>
              <a:t> in LMs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713678"/>
                <a:ext cx="5774635" cy="3880945"/>
              </a:xfrm>
            </p:spPr>
            <p:txBody>
              <a:bodyPr>
                <a:normAutofit fontScale="70000" lnSpcReduction="20000"/>
              </a:bodyPr>
              <a:lstStyle/>
              <a:p>
                <a:pPr marL="0" lvl="0" indent="0">
                  <a:buNone/>
                </a:pPr>
                <a:r>
                  <a:rPr lang="en-US" b="1" dirty="0"/>
                  <a:t>Setup.</a:t>
                </a:r>
                <a:r>
                  <a:rPr lang="en-US" dirty="0"/>
                  <a:t> Train LM (BERT, </a:t>
                </a:r>
                <a:r>
                  <a:rPr lang="en-US" dirty="0" err="1"/>
                  <a:t>biLSTM</a:t>
                </a:r>
                <a:r>
                  <a:rPr lang="en-US" dirty="0"/>
                  <a:t>, GPT-2, LSTM). At each training checkpoint, probe each CDI word to get surprisal</a:t>
                </a:r>
                <a:r>
                  <a:rPr lang="ar-AE" dirty="0"/>
                  <a:t>.</a:t>
                </a:r>
              </a:p>
              <a:p>
                <a:pPr marL="0" lvl="0" indent="0">
                  <a:buNone/>
                </a:pPr>
                <a:endParaRPr lang="en-US" dirty="0"/>
              </a:p>
              <a:p>
                <a:pPr marL="0" lvl="0" indent="0">
                  <a:buNone/>
                </a:pPr>
                <a:r>
                  <a:rPr lang="en-US" dirty="0"/>
                  <a:t>For each (LM, word), fit a 4-parameter logistic</a:t>
                </a:r>
              </a:p>
              <a:p>
                <a:pPr marL="0" lvl="0" indent="0">
                  <a:buNone/>
                </a:pPr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lower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upper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lower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exp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mid</m:t>
                                      </m:r>
                                    </m:e>
                                    <m:sub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scale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:endParaRPr lang="ar-AE" dirty="0"/>
              </a:p>
              <a:p>
                <a:pPr marL="0" lv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/>
                          <m:t>training</m:t>
                        </m:r>
                        <m:r>
                          <m:rPr>
                            <m:nor/>
                          </m:rPr>
                          <a:rPr lang="en-US"/>
                          <m:t> </m:t>
                        </m:r>
                        <m:r>
                          <m:rPr>
                            <m:nor/>
                          </m:rPr>
                          <a:rPr lang="en-US"/>
                          <m:t>steps</m:t>
                        </m:r>
                      </m:e>
                    </m:d>
                  </m:oMath>
                </a14:m>
                <a:r>
                  <a:rPr lang="ar-AE" dirty="0"/>
                  <a:t>, </a:t>
                </a:r>
                <a:r>
                  <a:rPr lang="en-US" dirty="0"/>
                  <a:t>yielding a per-word </a:t>
                </a:r>
                <a:r>
                  <a:rPr lang="en-US" b="1" dirty="0"/>
                  <a:t>scaling slope</a:t>
                </a:r>
                <a:r>
                  <a:rPr lang="en-US" dirty="0"/>
                  <a:t>. </a:t>
                </a:r>
              </a:p>
              <a:p>
                <a:pPr marL="0" lvl="0" indent="0">
                  <a:buNone/>
                </a:pPr>
                <a:endParaRPr lang="en-US" dirty="0"/>
              </a:p>
              <a:p>
                <a:pPr marL="0" lvl="0" indent="0">
                  <a:buNone/>
                </a:pPr>
                <a:r>
                  <a:rPr lang="en-US" dirty="0"/>
                  <a:t>After unit conversion, this is exactly analogous to our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for children.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713678"/>
                <a:ext cx="5774635" cy="3880945"/>
              </a:xfrm>
              <a:blipFill>
                <a:blip r:embed="rId2"/>
                <a:stretch>
                  <a:fillRect l="-659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8D5CF21-AAA8-06F3-A470-59070B0CA2CC}"/>
              </a:ext>
            </a:extLst>
          </p:cNvPr>
          <p:cNvSpPr txBox="1"/>
          <p:nvPr/>
        </p:nvSpPr>
        <p:spPr>
          <a:xfrm>
            <a:off x="6853954" y="4774168"/>
            <a:ext cx="2358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Chang &amp; Bergen (2022)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C59E01-BF69-053F-09DC-C2741F051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7353" y="1187450"/>
            <a:ext cx="2628900" cy="27686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lang="en-US" dirty="0"/>
              <a:t>Apples-to-apples comparison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lvl="0" indent="0">
                  <a:buNone/>
                </a:pPr>
                <a:r>
                  <a:rPr b="1" dirty="0"/>
                  <a:t>Test:</a:t>
                </a:r>
                <a:r>
                  <a:rPr dirty="0"/>
                  <a:t> retrain GPT-2 small on CHILDES, refit C&amp;B’s per-word sigmoid. </a:t>
                </a:r>
              </a:p>
              <a:p>
                <a:pPr marL="0" lvl="0" indent="0">
                  <a:buNone/>
                </a:pPr>
                <a:endParaRPr lang="en-US" b="1" dirty="0"/>
              </a:p>
              <a:p>
                <a:pPr marL="0" lvl="0" indent="0">
                  <a:buNone/>
                </a:pPr>
                <a:r>
                  <a:rPr b="1" dirty="0"/>
                  <a:t>Setup:</a:t>
                </a:r>
              </a:p>
              <a:p>
                <a:pPr lvl="0"/>
                <a:r>
                  <a:rPr dirty="0"/>
                  <a:t>GPT-2 small (124M params, 12L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dirty="0"/>
                  <a:t> 768d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dirty="0"/>
                  <a:t> 12h)</a:t>
                </a:r>
              </a:p>
              <a:p>
                <a:pPr lvl="0"/>
                <a:r>
                  <a:rPr dirty="0"/>
                  <a:t>CHILDES train split,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∼</m:t>
                    </m:r>
                  </m:oMath>
                </a14:m>
                <a:r>
                  <a:rPr dirty="0"/>
                  <a:t> 24.5M tokens, 20 epochs (Feng et al. §B spec)</a:t>
                </a:r>
              </a:p>
              <a:p>
                <a:pPr lvl="0"/>
                <a:r>
                  <a:rPr dirty="0"/>
                  <a:t>3 random seeds ({0, 42, 123}) as a between-instance variance probe</a:t>
                </a:r>
              </a:p>
              <a:p>
                <a:pPr lvl="0"/>
                <a:r>
                  <a:rPr dirty="0"/>
                  <a:t>73 log-spaced eval checkpoints; per-word mean NLL over 50 occurrences in the CHILDES validation set</a:t>
                </a:r>
              </a:p>
              <a:p>
                <a:pPr lvl="0"/>
                <a:r>
                  <a:rPr dirty="0"/>
                  <a:t>C&amp;B 4-parameter logistic fit per (LM, word); per-word slope =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0.434/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ParamScale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endParaRPr dirty="0"/>
              </a:p>
              <a:p>
                <a:pPr lvl="0"/>
                <a:r>
                  <a:rPr dirty="0"/>
                  <a:t>609 / 611 C&amp;B CDI words are single tokens in the GPT2-CHILDES BPE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2" t="-2614" b="-6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lang="en-US" dirty="0"/>
              <a:t>No increases in efficiency for LLMs</a:t>
            </a:r>
            <a:endParaRPr dirty="0"/>
          </a:p>
        </p:txBody>
      </p:sp>
      <p:pic>
        <p:nvPicPr>
          <p:cNvPr id="3" name="Picture 1" descr="feng_chang_bergen_slope_compariso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42010" y="944743"/>
            <a:ext cx="7459980" cy="372999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66700-680C-ED57-5315-9A6FF572E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Minimal variance for LLMs (preliminary!)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35A734-C59B-5FB1-FA79-7E6A9D2B3CC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Between architectures (Chang &amp; Bergen 2022, </a:t>
            </a:r>
            <a:r>
              <a:rPr lang="en-US" dirty="0" err="1"/>
              <a:t>BookCorpus</a:t>
            </a:r>
            <a:r>
              <a:rPr lang="en-US" dirty="0"/>
              <a:t>). Four LMs — BERT, GPT-2, </a:t>
            </a:r>
            <a:r>
              <a:rPr lang="en-US" dirty="0" err="1"/>
              <a:t>biLSTM</a:t>
            </a:r>
            <a:r>
              <a:rPr lang="en-US" dirty="0"/>
              <a:t>, LSTM — give median per-word slopes of 0.76, 0.81, 0.87, 0.96. Between-architecture SD ≈ 0.09.</a:t>
            </a:r>
          </a:p>
          <a:p>
            <a:r>
              <a:rPr lang="en-US" dirty="0"/>
              <a:t>Between seeds (CHILDES-trained GPT-2 small). Three seeds on the same CHILDES data give median per-word slopes of 0.72, 0.74, 0.74. Between-seed SD ≈ 0.01.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D61697DC-607A-2200-18AC-061A98DAAC06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2908433417"/>
                  </p:ext>
                </p:extLst>
              </p:nvPr>
            </p:nvGraphicFramePr>
            <p:xfrm>
              <a:off x="4648200" y="1494790"/>
              <a:ext cx="4038600" cy="2153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09650">
                      <a:extLst>
                        <a:ext uri="{9D8B030D-6E8A-4147-A177-3AD203B41FA5}">
                          <a16:colId xmlns:a16="http://schemas.microsoft.com/office/drawing/2014/main" val="1243566851"/>
                        </a:ext>
                      </a:extLst>
                    </a:gridCol>
                    <a:gridCol w="1009650">
                      <a:extLst>
                        <a:ext uri="{9D8B030D-6E8A-4147-A177-3AD203B41FA5}">
                          <a16:colId xmlns:a16="http://schemas.microsoft.com/office/drawing/2014/main" val="1115834711"/>
                        </a:ext>
                      </a:extLst>
                    </a:gridCol>
                    <a:gridCol w="1009650">
                      <a:extLst>
                        <a:ext uri="{9D8B030D-6E8A-4147-A177-3AD203B41FA5}">
                          <a16:colId xmlns:a16="http://schemas.microsoft.com/office/drawing/2014/main" val="548592995"/>
                        </a:ext>
                      </a:extLst>
                    </a:gridCol>
                    <a:gridCol w="1009650">
                      <a:extLst>
                        <a:ext uri="{9D8B030D-6E8A-4147-A177-3AD203B41FA5}">
                          <a16:colId xmlns:a16="http://schemas.microsoft.com/office/drawing/2014/main" val="343586864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 fontAlgn="t">
                            <a:buNone/>
                          </a:pPr>
                          <a:r>
                            <a:rPr lang="en-US" b="0" dirty="0">
                              <a:effectLst/>
                            </a:rPr>
                            <a:t>Source</a:t>
                          </a:r>
                        </a:p>
                      </a:txBody>
                      <a:tcPr marL="57150" marR="57150" marT="57150" marB="57150"/>
                    </a:tc>
                    <a:tc>
                      <a:txBody>
                        <a:bodyPr/>
                        <a:lstStyle/>
                        <a:p>
                          <a:pPr algn="l" fontAlgn="t">
                            <a:buNone/>
                          </a:pPr>
                          <a:r>
                            <a:rPr lang="en-US" b="0" dirty="0">
                              <a:effectLst/>
                            </a:rPr>
                            <a:t>N</a:t>
                          </a:r>
                        </a:p>
                      </a:txBody>
                      <a:tcPr marL="57150" marR="57150" marT="57150" marB="57150"/>
                    </a:tc>
                    <a:tc>
                      <a:txBody>
                        <a:bodyPr/>
                        <a:lstStyle/>
                        <a:p>
                          <a:pPr algn="l" fontAlgn="t">
                            <a:buNone/>
                          </a:pPr>
                          <a:r>
                            <a:rPr lang="en-US" b="0">
                              <a:effectLst/>
                            </a:rPr>
                            <a:t>Median </a:t>
                          </a:r>
                          <a14:m>
                            <m:oMath xmlns:m="http://schemas.openxmlformats.org/officeDocument/2006/math"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oMath>
                          </a14:m>
                          <a:endParaRPr lang="en-US" b="0">
                            <a:effectLst/>
                          </a:endParaRPr>
                        </a:p>
                      </a:txBody>
                      <a:tcPr marL="57150" marR="57150" marT="57150" marB="57150"/>
                    </a:tc>
                    <a:tc>
                      <a:txBody>
                        <a:bodyPr/>
                        <a:lstStyle/>
                        <a:p>
                          <a:pPr algn="l" fontAlgn="t">
                            <a:buNone/>
                          </a:pPr>
                          <a:r>
                            <a:rPr lang="en-US" b="0">
                              <a:effectLst/>
                            </a:rPr>
                            <a:t>between-LM SD</a:t>
                          </a:r>
                        </a:p>
                      </a:txBody>
                      <a:tcPr marL="57150" marR="57150" marT="57150" marB="57150"/>
                    </a:tc>
                    <a:extLst>
                      <a:ext uri="{0D108BD9-81ED-4DB2-BD59-A6C34878D82A}">
                        <a16:rowId xmlns:a16="http://schemas.microsoft.com/office/drawing/2014/main" val="42819145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 fontAlgn="t">
                            <a:buNone/>
                          </a:pPr>
                          <a:r>
                            <a:rPr lang="en-US">
                              <a:effectLst/>
                            </a:rPr>
                            <a:t>BookCorpus (C&amp;B)</a:t>
                          </a:r>
                        </a:p>
                      </a:txBody>
                      <a:tcPr marL="57150" marR="57150" marT="57150" marB="57150"/>
                    </a:tc>
                    <a:tc>
                      <a:txBody>
                        <a:bodyPr/>
                        <a:lstStyle/>
                        <a:p>
                          <a:pPr algn="l" fontAlgn="t">
                            <a:buNone/>
                          </a:pPr>
                          <a:r>
                            <a:rPr lang="en-US" dirty="0">
                              <a:effectLst/>
                            </a:rPr>
                            <a:t>4</a:t>
                          </a:r>
                        </a:p>
                      </a:txBody>
                      <a:tcPr marL="57150" marR="57150" marT="57150" marB="57150"/>
                    </a:tc>
                    <a:tc>
                      <a:txBody>
                        <a:bodyPr/>
                        <a:lstStyle/>
                        <a:p>
                          <a:pPr algn="l" fontAlgn="t">
                            <a:buNone/>
                          </a:pPr>
                          <a:r>
                            <a:rPr lang="en-US">
                              <a:effectLst/>
                            </a:rPr>
                            <a:t>0.76–0.96</a:t>
                          </a:r>
                        </a:p>
                      </a:txBody>
                      <a:tcPr marL="57150" marR="57150" marT="57150" marB="57150"/>
                    </a:tc>
                    <a:tc>
                      <a:txBody>
                        <a:bodyPr/>
                        <a:lstStyle/>
                        <a:p>
                          <a:pPr algn="l" fontAlgn="t">
                            <a:buNone/>
                          </a:pPr>
                          <a:r>
                            <a:rPr lang="en-US">
                              <a:effectLst/>
                            </a:rPr>
                            <a:t>0.09</a:t>
                          </a:r>
                        </a:p>
                      </a:txBody>
                      <a:tcPr marL="57150" marR="57150" marT="57150" marB="57150"/>
                    </a:tc>
                    <a:extLst>
                      <a:ext uri="{0D108BD9-81ED-4DB2-BD59-A6C34878D82A}">
                        <a16:rowId xmlns:a16="http://schemas.microsoft.com/office/drawing/2014/main" val="15343131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 fontAlgn="t">
                            <a:buNone/>
                          </a:pPr>
                          <a:r>
                            <a:rPr lang="en-US">
                              <a:effectLst/>
                            </a:rPr>
                            <a:t>CHILDES seeds (this work)</a:t>
                          </a:r>
                        </a:p>
                      </a:txBody>
                      <a:tcPr marL="57150" marR="57150" marT="57150" marB="57150"/>
                    </a:tc>
                    <a:tc>
                      <a:txBody>
                        <a:bodyPr/>
                        <a:lstStyle/>
                        <a:p>
                          <a:pPr algn="l" fontAlgn="t">
                            <a:buNone/>
                          </a:pPr>
                          <a:r>
                            <a:rPr lang="en-US">
                              <a:effectLst/>
                            </a:rPr>
                            <a:t>3</a:t>
                          </a:r>
                        </a:p>
                      </a:txBody>
                      <a:tcPr marL="57150" marR="57150" marT="57150" marB="57150"/>
                    </a:tc>
                    <a:tc>
                      <a:txBody>
                        <a:bodyPr/>
                        <a:lstStyle/>
                        <a:p>
                          <a:pPr algn="l" fontAlgn="t">
                            <a:buNone/>
                          </a:pPr>
                          <a:r>
                            <a:rPr lang="en-US">
                              <a:effectLst/>
                            </a:rPr>
                            <a:t>0.72–0.74</a:t>
                          </a:r>
                        </a:p>
                      </a:txBody>
                      <a:tcPr marL="57150" marR="57150" marT="57150" marB="57150"/>
                    </a:tc>
                    <a:tc>
                      <a:txBody>
                        <a:bodyPr/>
                        <a:lstStyle/>
                        <a:p>
                          <a:pPr algn="l" fontAlgn="t">
                            <a:buNone/>
                          </a:pPr>
                          <a:r>
                            <a:rPr lang="en-US">
                              <a:effectLst/>
                            </a:rPr>
                            <a:t>0.01</a:t>
                          </a:r>
                        </a:p>
                      </a:txBody>
                      <a:tcPr marL="57150" marR="57150" marT="57150" marB="57150"/>
                    </a:tc>
                    <a:extLst>
                      <a:ext uri="{0D108BD9-81ED-4DB2-BD59-A6C34878D82A}">
                        <a16:rowId xmlns:a16="http://schemas.microsoft.com/office/drawing/2014/main" val="10121409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 fontAlgn="t">
                            <a:buNone/>
                          </a:pPr>
                          <a:r>
                            <a:rPr lang="en-US" b="0">
                              <a:effectLst/>
                            </a:rPr>
                            <a:t>Children</a:t>
                          </a:r>
                          <a:endParaRPr lang="en-US">
                            <a:effectLst/>
                          </a:endParaRPr>
                        </a:p>
                      </a:txBody>
                      <a:tcPr marL="57150" marR="57150" marT="57150" marB="57150"/>
                    </a:tc>
                    <a:tc>
                      <a:txBody>
                        <a:bodyPr/>
                        <a:lstStyle/>
                        <a:p>
                          <a:pPr algn="l" fontAlgn="t">
                            <a:buNone/>
                          </a:pPr>
                          <a:r>
                            <a:rPr lang="en-US" b="0">
                              <a:effectLst/>
                            </a:rPr>
                            <a:t>5000</a:t>
                          </a:r>
                          <a:endParaRPr lang="en-US">
                            <a:effectLst/>
                          </a:endParaRPr>
                        </a:p>
                      </a:txBody>
                      <a:tcPr marL="57150" marR="57150" marT="57150" marB="57150"/>
                    </a:tc>
                    <a:tc>
                      <a:txBody>
                        <a:bodyPr/>
                        <a:lstStyle/>
                        <a:p>
                          <a:pPr algn="l" fontAlgn="t">
                            <a:buNone/>
                          </a:pPr>
                          <a:r>
                            <a:rPr lang="en-US" b="0">
                              <a:effectLst/>
                            </a:rPr>
                            <a:t>10.3</a:t>
                          </a:r>
                          <a:endParaRPr lang="en-US">
                            <a:effectLst/>
                          </a:endParaRPr>
                        </a:p>
                      </a:txBody>
                      <a:tcPr marL="57150" marR="57150" marT="57150" marB="57150"/>
                    </a:tc>
                    <a:tc>
                      <a:txBody>
                        <a:bodyPr/>
                        <a:lstStyle/>
                        <a:p>
                          <a:pPr algn="l" fontAlgn="t">
                            <a:buNone/>
                          </a:pPr>
                          <a:r>
                            <a:rPr lang="en-US" b="0" dirty="0">
                              <a:effectLst/>
                            </a:rPr>
                            <a:t>3.5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marL="57150" marR="57150" marT="57150" marB="57150"/>
                    </a:tc>
                    <a:extLst>
                      <a:ext uri="{0D108BD9-81ED-4DB2-BD59-A6C34878D82A}">
                        <a16:rowId xmlns:a16="http://schemas.microsoft.com/office/drawing/2014/main" val="157945250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D61697DC-607A-2200-18AC-061A98DAAC06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2908433417"/>
                  </p:ext>
                </p:extLst>
              </p:nvPr>
            </p:nvGraphicFramePr>
            <p:xfrm>
              <a:off x="4648200" y="1494790"/>
              <a:ext cx="4038600" cy="2153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09650">
                      <a:extLst>
                        <a:ext uri="{9D8B030D-6E8A-4147-A177-3AD203B41FA5}">
                          <a16:colId xmlns:a16="http://schemas.microsoft.com/office/drawing/2014/main" val="1243566851"/>
                        </a:ext>
                      </a:extLst>
                    </a:gridCol>
                    <a:gridCol w="1009650">
                      <a:extLst>
                        <a:ext uri="{9D8B030D-6E8A-4147-A177-3AD203B41FA5}">
                          <a16:colId xmlns:a16="http://schemas.microsoft.com/office/drawing/2014/main" val="1115834711"/>
                        </a:ext>
                      </a:extLst>
                    </a:gridCol>
                    <a:gridCol w="1009650">
                      <a:extLst>
                        <a:ext uri="{9D8B030D-6E8A-4147-A177-3AD203B41FA5}">
                          <a16:colId xmlns:a16="http://schemas.microsoft.com/office/drawing/2014/main" val="548592995"/>
                        </a:ext>
                      </a:extLst>
                    </a:gridCol>
                    <a:gridCol w="1009650">
                      <a:extLst>
                        <a:ext uri="{9D8B030D-6E8A-4147-A177-3AD203B41FA5}">
                          <a16:colId xmlns:a16="http://schemas.microsoft.com/office/drawing/2014/main" val="3435868641"/>
                        </a:ext>
                      </a:extLst>
                    </a:gridCol>
                  </a:tblGrid>
                  <a:tr h="525780">
                    <a:tc>
                      <a:txBody>
                        <a:bodyPr/>
                        <a:lstStyle/>
                        <a:p>
                          <a:pPr algn="l" fontAlgn="t">
                            <a:buNone/>
                          </a:pPr>
                          <a:r>
                            <a:rPr lang="en-US" b="0" dirty="0">
                              <a:effectLst/>
                            </a:rPr>
                            <a:t>Source</a:t>
                          </a:r>
                        </a:p>
                      </a:txBody>
                      <a:tcPr marL="57150" marR="57150" marT="57150" marB="57150"/>
                    </a:tc>
                    <a:tc>
                      <a:txBody>
                        <a:bodyPr/>
                        <a:lstStyle/>
                        <a:p>
                          <a:pPr algn="l" fontAlgn="t">
                            <a:buNone/>
                          </a:pPr>
                          <a:r>
                            <a:rPr lang="en-US" b="0" dirty="0">
                              <a:effectLst/>
                            </a:rPr>
                            <a:t>N</a:t>
                          </a:r>
                        </a:p>
                      </a:txBody>
                      <a:tcPr marL="57150" marR="57150" marT="57150" marB="5715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7150" marR="57150" marT="57150" marB="57150">
                        <a:blipFill>
                          <a:blip r:embed="rId2"/>
                          <a:stretch>
                            <a:fillRect l="-200000" r="-102500" b="-30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t">
                            <a:buNone/>
                          </a:pPr>
                          <a:r>
                            <a:rPr lang="en-US" b="0">
                              <a:effectLst/>
                            </a:rPr>
                            <a:t>between-LM SD</a:t>
                          </a:r>
                        </a:p>
                      </a:txBody>
                      <a:tcPr marL="57150" marR="57150" marT="57150" marB="57150"/>
                    </a:tc>
                    <a:extLst>
                      <a:ext uri="{0D108BD9-81ED-4DB2-BD59-A6C34878D82A}">
                        <a16:rowId xmlns:a16="http://schemas.microsoft.com/office/drawing/2014/main" val="4281914542"/>
                      </a:ext>
                    </a:extLst>
                  </a:tr>
                  <a:tr h="525780">
                    <a:tc>
                      <a:txBody>
                        <a:bodyPr/>
                        <a:lstStyle/>
                        <a:p>
                          <a:pPr algn="l" fontAlgn="t">
                            <a:buNone/>
                          </a:pPr>
                          <a:r>
                            <a:rPr lang="en-US">
                              <a:effectLst/>
                            </a:rPr>
                            <a:t>BookCorpus (C&amp;B)</a:t>
                          </a:r>
                        </a:p>
                      </a:txBody>
                      <a:tcPr marL="57150" marR="57150" marT="57150" marB="57150"/>
                    </a:tc>
                    <a:tc>
                      <a:txBody>
                        <a:bodyPr/>
                        <a:lstStyle/>
                        <a:p>
                          <a:pPr algn="l" fontAlgn="t">
                            <a:buNone/>
                          </a:pPr>
                          <a:r>
                            <a:rPr lang="en-US" dirty="0">
                              <a:effectLst/>
                            </a:rPr>
                            <a:t>4</a:t>
                          </a:r>
                        </a:p>
                      </a:txBody>
                      <a:tcPr marL="57150" marR="57150" marT="57150" marB="57150"/>
                    </a:tc>
                    <a:tc>
                      <a:txBody>
                        <a:bodyPr/>
                        <a:lstStyle/>
                        <a:p>
                          <a:pPr algn="l" fontAlgn="t">
                            <a:buNone/>
                          </a:pPr>
                          <a:r>
                            <a:rPr lang="en-US">
                              <a:effectLst/>
                            </a:rPr>
                            <a:t>0.76–0.96</a:t>
                          </a:r>
                        </a:p>
                      </a:txBody>
                      <a:tcPr marL="57150" marR="57150" marT="57150" marB="57150"/>
                    </a:tc>
                    <a:tc>
                      <a:txBody>
                        <a:bodyPr/>
                        <a:lstStyle/>
                        <a:p>
                          <a:pPr algn="l" fontAlgn="t">
                            <a:buNone/>
                          </a:pPr>
                          <a:r>
                            <a:rPr lang="en-US">
                              <a:effectLst/>
                            </a:rPr>
                            <a:t>0.09</a:t>
                          </a:r>
                        </a:p>
                      </a:txBody>
                      <a:tcPr marL="57150" marR="57150" marT="57150" marB="57150"/>
                    </a:tc>
                    <a:extLst>
                      <a:ext uri="{0D108BD9-81ED-4DB2-BD59-A6C34878D82A}">
                        <a16:rowId xmlns:a16="http://schemas.microsoft.com/office/drawing/2014/main" val="1534313137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pPr algn="l" fontAlgn="t">
                            <a:buNone/>
                          </a:pPr>
                          <a:r>
                            <a:rPr lang="en-US">
                              <a:effectLst/>
                            </a:rPr>
                            <a:t>CHILDES seeds (this work)</a:t>
                          </a:r>
                        </a:p>
                      </a:txBody>
                      <a:tcPr marL="57150" marR="57150" marT="57150" marB="57150"/>
                    </a:tc>
                    <a:tc>
                      <a:txBody>
                        <a:bodyPr/>
                        <a:lstStyle/>
                        <a:p>
                          <a:pPr algn="l" fontAlgn="t">
                            <a:buNone/>
                          </a:pPr>
                          <a:r>
                            <a:rPr lang="en-US">
                              <a:effectLst/>
                            </a:rPr>
                            <a:t>3</a:t>
                          </a:r>
                        </a:p>
                      </a:txBody>
                      <a:tcPr marL="57150" marR="57150" marT="57150" marB="57150"/>
                    </a:tc>
                    <a:tc>
                      <a:txBody>
                        <a:bodyPr/>
                        <a:lstStyle/>
                        <a:p>
                          <a:pPr algn="l" fontAlgn="t">
                            <a:buNone/>
                          </a:pPr>
                          <a:r>
                            <a:rPr lang="en-US">
                              <a:effectLst/>
                            </a:rPr>
                            <a:t>0.72–0.74</a:t>
                          </a:r>
                        </a:p>
                      </a:txBody>
                      <a:tcPr marL="57150" marR="57150" marT="57150" marB="57150"/>
                    </a:tc>
                    <a:tc>
                      <a:txBody>
                        <a:bodyPr/>
                        <a:lstStyle/>
                        <a:p>
                          <a:pPr algn="l" fontAlgn="t">
                            <a:buNone/>
                          </a:pPr>
                          <a:r>
                            <a:rPr lang="en-US">
                              <a:effectLst/>
                            </a:rPr>
                            <a:t>0.01</a:t>
                          </a:r>
                        </a:p>
                      </a:txBody>
                      <a:tcPr marL="57150" marR="57150" marT="57150" marB="57150"/>
                    </a:tc>
                    <a:extLst>
                      <a:ext uri="{0D108BD9-81ED-4DB2-BD59-A6C34878D82A}">
                        <a16:rowId xmlns:a16="http://schemas.microsoft.com/office/drawing/2014/main" val="10121409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 fontAlgn="t">
                            <a:buNone/>
                          </a:pPr>
                          <a:r>
                            <a:rPr lang="en-US" b="0">
                              <a:effectLst/>
                            </a:rPr>
                            <a:t>Children</a:t>
                          </a:r>
                          <a:endParaRPr lang="en-US">
                            <a:effectLst/>
                          </a:endParaRPr>
                        </a:p>
                      </a:txBody>
                      <a:tcPr marL="57150" marR="57150" marT="57150" marB="57150"/>
                    </a:tc>
                    <a:tc>
                      <a:txBody>
                        <a:bodyPr/>
                        <a:lstStyle/>
                        <a:p>
                          <a:pPr algn="l" fontAlgn="t">
                            <a:buNone/>
                          </a:pPr>
                          <a:r>
                            <a:rPr lang="en-US" b="0">
                              <a:effectLst/>
                            </a:rPr>
                            <a:t>5000</a:t>
                          </a:r>
                          <a:endParaRPr lang="en-US">
                            <a:effectLst/>
                          </a:endParaRPr>
                        </a:p>
                      </a:txBody>
                      <a:tcPr marL="57150" marR="57150" marT="57150" marB="57150"/>
                    </a:tc>
                    <a:tc>
                      <a:txBody>
                        <a:bodyPr/>
                        <a:lstStyle/>
                        <a:p>
                          <a:pPr algn="l" fontAlgn="t">
                            <a:buNone/>
                          </a:pPr>
                          <a:r>
                            <a:rPr lang="en-US" b="0">
                              <a:effectLst/>
                            </a:rPr>
                            <a:t>10.3</a:t>
                          </a:r>
                          <a:endParaRPr lang="en-US">
                            <a:effectLst/>
                          </a:endParaRPr>
                        </a:p>
                      </a:txBody>
                      <a:tcPr marL="57150" marR="57150" marT="57150" marB="57150"/>
                    </a:tc>
                    <a:tc>
                      <a:txBody>
                        <a:bodyPr/>
                        <a:lstStyle/>
                        <a:p>
                          <a:pPr algn="l" fontAlgn="t">
                            <a:buNone/>
                          </a:pPr>
                          <a:r>
                            <a:rPr lang="en-US" b="0" dirty="0">
                              <a:effectLst/>
                            </a:rPr>
                            <a:t>3.5</a:t>
                          </a:r>
                          <a:endParaRPr lang="en-US" dirty="0">
                            <a:effectLst/>
                          </a:endParaRPr>
                        </a:p>
                      </a:txBody>
                      <a:tcPr marL="57150" marR="57150" marT="57150" marB="57150"/>
                    </a:tc>
                    <a:extLst>
                      <a:ext uri="{0D108BD9-81ED-4DB2-BD59-A6C34878D82A}">
                        <a16:rowId xmlns:a16="http://schemas.microsoft.com/office/drawing/2014/main" val="15794525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5528596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F3CBE-548D-1F16-4D41-214D23A97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Future work?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9AC8863-DF3A-BFF2-A25C-90A1034F7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Pilot to test for data-related variation. Train GPT-2 small on the two disjoint 10M-token chunks extractable from CHILDES, fix everything else.</a:t>
            </a:r>
          </a:p>
          <a:p>
            <a:r>
              <a:rPr lang="en-US" b="1" dirty="0"/>
              <a:t>Main study.</a:t>
            </a:r>
            <a:r>
              <a:rPr lang="en-US" dirty="0"/>
              <a:t> Three sources of between-LM variability, measured independently:</a:t>
            </a:r>
          </a:p>
          <a:p>
            <a:pPr lvl="1"/>
            <a:r>
              <a:rPr lang="en-US" dirty="0"/>
              <a:t>Seed variability.</a:t>
            </a:r>
          </a:p>
          <a:p>
            <a:pPr lvl="1"/>
            <a:r>
              <a:rPr lang="en-US" dirty="0"/>
              <a:t>Data variability — varied subsamples (CHILDES or </a:t>
            </a:r>
            <a:r>
              <a:rPr lang="en-US" dirty="0" err="1"/>
              <a:t>TinyDialogues</a:t>
            </a:r>
            <a:r>
              <a:rPr lang="en-US" dirty="0"/>
              <a:t> per pilot outcome), fixed seed and architecture.</a:t>
            </a:r>
          </a:p>
          <a:p>
            <a:pPr lvl="1"/>
            <a:r>
              <a:rPr lang="en-US" dirty="0"/>
              <a:t>Architecture variability — within-GPT-2 sweep over learning rate, width, depth.</a:t>
            </a:r>
          </a:p>
        </p:txBody>
      </p:sp>
    </p:spTree>
    <p:extLst>
      <p:ext uri="{BB962C8B-B14F-4D97-AF65-F5344CB8AC3E}">
        <p14:creationId xmlns:p14="http://schemas.microsoft.com/office/powerpoint/2010/main" val="33559078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Synthesis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Technical summary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lvl="0"/>
                <a:r>
                  <a:rPr lang="en-US" b="1" dirty="0"/>
                  <a:t>Change in efficiency</a:t>
                </a:r>
                <a:r>
                  <a:rPr b="1" dirty="0"/>
                  <a:t> is real and population-level.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m:rPr>
                            <m:nor/>
                          </m:rPr>
                          <a:rPr/>
                          <m:t>pop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≈10</m:t>
                    </m:r>
                  </m:oMath>
                </a14:m>
                <a:r>
                  <a:rPr dirty="0"/>
                  <a:t>, confidently above the unit-accumulator boundary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m:rPr>
                            <m:nor/>
                          </m:rPr>
                          <a:rPr/>
                          <m:t>pop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(credit to Hidaka, 2013!).</a:t>
                </a:r>
                <a:endParaRPr dirty="0"/>
              </a:p>
              <a:p>
                <a:pPr lvl="0"/>
                <a:r>
                  <a:rPr b="1" dirty="0"/>
                  <a:t>Individual variability in </a:t>
                </a:r>
                <a:r>
                  <a:rPr lang="en-US" b="1" dirty="0"/>
                  <a:t>efficiency </a:t>
                </a:r>
                <a:r>
                  <a:rPr b="1" dirty="0"/>
                  <a:t>is real too.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𝜁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dirty="0"/>
                  <a:t>: children differ not just in baseline ability, but in </a:t>
                </a:r>
                <a:r>
                  <a:rPr i="1" dirty="0"/>
                  <a:t>how their trajectories accelerate</a:t>
                </a:r>
                <a:r>
                  <a:rPr dirty="0"/>
                  <a:t>. </a:t>
                </a:r>
              </a:p>
              <a:p>
                <a:pPr lvl="0"/>
                <a:r>
                  <a:rPr b="1" dirty="0"/>
                  <a:t>Input quantity is a small share of between-child variance.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≈0.91</m:t>
                    </m:r>
                  </m:oMath>
                </a14:m>
                <a:r>
                  <a:rPr dirty="0"/>
                  <a:t> across 5 samples. Aligns with the meta-analytic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=0.04</m:t>
                    </m:r>
                  </m:oMath>
                </a14:m>
                <a:r>
                  <a:rPr dirty="0"/>
                  <a:t>–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0.07</m:t>
                    </m:r>
                  </m:oMath>
                </a14:m>
                <a:r>
                  <a:rPr dirty="0"/>
                  <a:t> of Coffey &amp; Snedeker (2026).</a:t>
                </a:r>
              </a:p>
              <a:p>
                <a:pPr lvl="0"/>
                <a:r>
                  <a:rPr b="1" dirty="0"/>
                  <a:t>LLMs are structurally different.</a:t>
                </a:r>
                <a:r>
                  <a:rPr dirty="0"/>
                  <a:t> Same per-word sigmoid statistic gives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𝜅</m:t>
                    </m:r>
                    <m:r>
                      <a:rPr>
                        <a:latin typeface="Cambria Math" panose="02040503050406030204" pitchFamily="18" charset="0"/>
                      </a:rPr>
                      <m:t>∼1</m:t>
                    </m:r>
                  </m:oMath>
                </a14:m>
                <a:r>
                  <a:rPr dirty="0"/>
                  <a:t> for LMs vs. 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∼10</m:t>
                    </m:r>
                  </m:oMath>
                </a14:m>
                <a:r>
                  <a:rPr dirty="0"/>
                  <a:t> for children — a 10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dirty="0"/>
                  <a:t> gap with near-zero between-instance variance in LMs.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6" t="-2614" r="-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Two signatures, twin constraints on theory</a:t>
            </a:r>
          </a:p>
        </p:txBody>
      </p:sp>
      <p:pic>
        <p:nvPicPr>
          <p:cNvPr id="3" name="Picture 1" descr="precursor_acceleratio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98600"/>
            <a:ext cx="40386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4" name="Picture 1" descr="precursor_variability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498600"/>
            <a:ext cx="40386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E14D4-BFDB-0A94-A3A9-364F94F47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8691"/>
            <a:ext cx="9144000" cy="54728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Thanks!</a:t>
            </a:r>
          </a:p>
        </p:txBody>
      </p:sp>
    </p:spTree>
    <p:extLst>
      <p:ext uri="{BB962C8B-B14F-4D97-AF65-F5344CB8AC3E}">
        <p14:creationId xmlns:p14="http://schemas.microsoft.com/office/powerpoint/2010/main" val="10078329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Wordbank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lvl="0" indent="0">
                  <a:buNone/>
                </a:pPr>
                <a:r>
                  <a:t>MacArthur–Bates Communicative Development Inventory (CDI): parent-report checklist of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∼</m:t>
                    </m:r>
                  </m:oMath>
                </a14:m>
                <a:r>
                  <a:t> 680 words.</a:t>
                </a:r>
              </a:p>
              <a:p>
                <a:pPr marL="0" lvl="0" indent="0">
                  <a:buNone/>
                </a:pPr>
                <a:r>
                  <a:t>We focus on production (less noisy).</a:t>
                </a:r>
              </a:p>
              <a:p>
                <a:pPr marL="0" lvl="0" indent="0">
                  <a:buNone/>
                </a:pPr>
                <a:r>
                  <a:rPr b="1"/>
                  <a:t>Wordbank</a:t>
                </a:r>
                <a:r>
                  <a:t>: open repository of CDI administrations.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∼</m:t>
                    </m:r>
                  </m:oMath>
                </a14:m>
                <a:r>
                  <a:t> 30 languages,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∼</m:t>
                    </m:r>
                    <m:r>
                      <a:rPr>
                        <a:latin typeface="Cambria Math" panose="02040503050406030204" pitchFamily="18" charset="0"/>
                      </a:rPr>
                      <m:t>​</m:t>
                    </m:r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t> children. We use both:</a:t>
                </a:r>
              </a:p>
              <a:p>
                <a:pPr lvl="0"/>
                <a:r>
                  <a:rPr b="1"/>
                  <a:t>Cross-sectional</a:t>
                </a:r>
                <a:r>
                  <a:t>: one snapshot per child</a:t>
                </a:r>
              </a:p>
              <a:p>
                <a:pPr lvl="0"/>
                <a:r>
                  <a:rPr b="1"/>
                  <a:t>Longitudinal</a:t>
                </a:r>
                <a:r>
                  <a:t>: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≥2</m:t>
                    </m:r>
                  </m:oMath>
                </a14:m>
                <a:r>
                  <a:t> admins per child, lets us track per-child growth</a:t>
                </a:r>
              </a:p>
              <a:p>
                <a:pPr marL="0" lvl="0" indent="0">
                  <a:buNone/>
                </a:pPr>
                <a:r>
                  <a:t>Large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t>, parent-report calibrated to direct testing, cross-linguistically validated.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940" t="-18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" descr="precursor_acceleration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498600"/>
            <a:ext cx="40386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828908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Cross-language acceleration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m:rPr>
                            <m:nor/>
                          </m:rPr>
                          <a:rPr/>
                          <m:t>pop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∼10</m:t>
                    </m:r>
                    <m:r>
                      <a:rPr>
                        <a:latin typeface="Cambria Math" panose="02040503050406030204" pitchFamily="18" charset="0"/>
                      </a:rPr>
                      <m:t>​</m:t>
                    </m:r>
                    <m:r>
                      <a:rPr>
                        <a:latin typeface="Cambria Math" panose="02040503050406030204" pitchFamily="18" charset="0"/>
                      </a:rPr>
                      <m:t>−</m:t>
                    </m:r>
                    <m:r>
                      <a:rPr>
                        <a:latin typeface="Cambria Math" panose="02040503050406030204" pitchFamily="18" charset="0"/>
                      </a:rPr>
                      <m:t>​</m:t>
                    </m:r>
                    <m:r>
                      <a:rPr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b="1"/>
                  <a:t> in both languages</a:t>
                </a:r>
                <a:r>
                  <a:t>, with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𝜅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&gt;1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&gt;0.997</m:t>
                    </m:r>
                  </m:oMath>
                </a14:m>
                <a:r>
                  <a:t>.</a:t>
                </a:r>
              </a:p>
              <a:p>
                <a:pPr marL="0" lvl="0" indent="0">
                  <a:buNone/>
                </a:pP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b="1"/>
                  <a:t> vs.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𝜁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b="1"/>
                  <a:t> decomposition is identifiability-dependent.</a:t>
                </a:r>
                <a:r>
                  <a:t> In Norwegian (8 admins/kid), per-child slopes are well-identified — dropping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𝜁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t> </a:t>
                </a:r>
                <a:r>
                  <a:rPr i="1"/>
                  <a:t>hurts</a:t>
                </a:r>
                <a:r>
                  <a:t> fit by 235 ELPD. In English (3 admins/kid),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t> pools what Norwegian’s data lets fall into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𝜁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t>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881" t="-19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rPr b="1"/>
                  <a:t>Reading.</a:t>
                </a:r>
                <a:r>
                  <a:t> The acceleration signature is universal. Its internal parameterization is identifiability-dependent on data density.</a:t>
                </a:r>
              </a:p>
              <a:p>
                <a:pPr marL="0" lvl="0" indent="0">
                  <a:buNone/>
                </a:pPr>
                <a:r>
                  <a:rPr i="1"/>
                  <a:t>In any dense longitudinal sample, between-child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i="1"/>
                  <a:t> spans roughly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5</m:t>
                    </m:r>
                    <m:r>
                      <a:rPr>
                        <a:latin typeface="Cambria Math" panose="02040503050406030204" pitchFamily="18" charset="0"/>
                      </a:rPr>
                      <m:t>​</m:t>
                    </m:r>
                    <m:r>
                      <a:rPr>
                        <a:latin typeface="Cambria Math" panose="02040503050406030204" pitchFamily="18" charset="0"/>
                      </a:rPr>
                      <m:t>−</m:t>
                    </m:r>
                    <m:r>
                      <a:rPr>
                        <a:latin typeface="Cambria Math" panose="02040503050406030204" pitchFamily="18" charset="0"/>
                      </a:rPr>
                      <m:t>​</m:t>
                    </m:r>
                    <m:r>
                      <a:rPr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i="1"/>
                  <a:t>.</a:t>
                </a: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887" t="-1987" r="-15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69141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Vocabulary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b="1" dirty="0"/>
              <a:t>Theoretical:</a:t>
            </a:r>
            <a:r>
              <a:rPr dirty="0"/>
              <a:t> Vocabulary is a key nexus of language, social cognition, and conceptual development.</a:t>
            </a:r>
          </a:p>
          <a:p>
            <a:pPr marL="0" lvl="0" indent="0">
              <a:buNone/>
            </a:pPr>
            <a:r>
              <a:rPr b="1" dirty="0"/>
              <a:t>Practical:</a:t>
            </a:r>
            <a:r>
              <a:rPr dirty="0"/>
              <a:t> Variation in vocabulary growth is a key precursor of academic outcomes.</a:t>
            </a:r>
          </a:p>
          <a:p>
            <a:pPr marL="0" lvl="0" indent="0">
              <a:buNone/>
            </a:pPr>
            <a:r>
              <a:rPr b="1" dirty="0"/>
              <a:t>Methodological:</a:t>
            </a:r>
            <a:r>
              <a:rPr dirty="0"/>
              <a:t> Vocabulary count has a property nearly no other psychological metric has: a true zero, so we can explore the psychometrics of learning.</a:t>
            </a:r>
          </a:p>
          <a:p>
            <a:pPr marL="0" lvl="0" indent="0">
              <a:buNone/>
            </a:pPr>
            <a:r>
              <a:rPr b="1" dirty="0"/>
              <a:t>Comparative:</a:t>
            </a:r>
            <a:r>
              <a:rPr dirty="0"/>
              <a:t> We can explore how LLMs relate to children using dense data about child outcomes.</a:t>
            </a:r>
          </a:p>
        </p:txBody>
      </p:sp>
    </p:spTree>
    <p:extLst>
      <p:ext uri="{BB962C8B-B14F-4D97-AF65-F5344CB8AC3E}">
        <p14:creationId xmlns:p14="http://schemas.microsoft.com/office/powerpoint/2010/main" val="36681431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Appendix: per-child trajectories from the best fit</a:t>
            </a:r>
          </a:p>
        </p:txBody>
      </p:sp>
      <p:pic>
        <p:nvPicPr>
          <p:cNvPr id="3" name="Picture 1" descr="m_best_spaghetti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t>120 kids sampled from the best-fitting model’s posterior. </a:t>
                </a:r>
                <a:r>
                  <a:rPr b="1"/>
                  <a:t>Left:</a:t>
                </a:r>
                <a:r>
                  <a:t> latent ability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t> (logit). </a:t>
                </a:r>
                <a:r>
                  <a:rPr b="1"/>
                  <a:t>Right:</a:t>
                </a:r>
                <a:r>
                  <a:t> predicted vocabulary. Concave-up shape = super-linear signature; fan width = between-child variability.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35" t="-1307" r="-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pPr marL="0" lvl="0" indent="0">
                  <a:buNone/>
                </a:pPr>
                <a:r>
                  <a:t>Appendix: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t> sensitivity from earlier cross-sectional fits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17647" b="-30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1" descr="quality_multiplier_implied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1879600"/>
            <a:ext cx="4038600" cy="201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lvl="0" indent="0">
                  <a:buNone/>
                </a:pPr>
                <a:r>
                  <a:rPr b="1"/>
                  <a:t>Reviewer reflex.</a:t>
                </a:r>
                <a:r>
                  <a:t> “Maybe kids’ tokens differ in </a:t>
                </a:r>
                <a:r>
                  <a:rPr i="1"/>
                  <a:t>quality</a:t>
                </a:r>
                <a:r>
                  <a:t>, and that’s what looks like acceleration.”</a:t>
                </a:r>
              </a:p>
              <a:p>
                <a:pPr marL="0" lvl="0" indent="0">
                  <a:buNone/>
                </a:pPr>
                <a:r>
                  <a:rPr b="1"/>
                  <a:t>Structural answer.</a:t>
                </a:r>
                <a:r>
                  <a:t> Per-child age-varying quality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>
                                <a:latin typeface="Cambria Math" panose="02040503050406030204" pitchFamily="18" charset="0"/>
                              </a:rPr>
                              <m:t>/</m:t>
                            </m:r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</m:oMath>
                </a14:m>
                <a:r>
                  <a:t> on input is observationally equivalent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t>.</a:t>
                </a:r>
              </a:p>
              <a:p>
                <a:pPr marL="0" lvl="0" indent="0">
                  <a:buNone/>
                </a:pPr>
                <a:r>
                  <a:rPr b="1"/>
                  <a:t>Implication.</a:t>
                </a:r>
                <a:r>
                  <a:t> Quality cannot escape acceleration — it </a:t>
                </a:r>
                <a:r>
                  <a:rPr i="1"/>
                  <a:t>relabels</a:t>
                </a:r>
                <a:r>
                  <a:t> it. For the median kid, “quality” would have to grow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∼3,000</m:t>
                    </m:r>
                    <m:r>
                      <a:rPr>
                        <a:latin typeface="Cambria Math" panose="02040503050406030204" pitchFamily="18" charset="0"/>
                      </a:rPr>
                      <m:t>​</m:t>
                    </m:r>
                    <m:r>
                      <a:rPr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t> from age 12 to 30 mo. For the 95th percentile kid,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∼</m:t>
                    </m:r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t>. Implausible as a substantive quality story.</a:t>
                </a: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4"/>
                <a:stretch>
                  <a:fillRect l="-1572" t="-2649" r="-3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Appendix: McMurray (2007) in our notation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b="1"/>
                  <a:t>Original.</a:t>
                </a:r>
                <a:r>
                  <a:t> Each word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t> has threshold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∼</m:t>
                    </m:r>
                    <m:r>
                      <a:rPr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r>
                  <a:t>; deterministic step at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𝑡</m:t>
                    </m:r>
                    <m:r>
                      <a:rPr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t>. Vocabulary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t> (CDF of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t>). Acceleration requires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𝑔</m:t>
                    </m:r>
                    <m:r>
                      <a:rPr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t> over the productive window.</a:t>
                </a:r>
              </a:p>
              <a:p>
                <a:pPr marL="0" lvl="0" indent="0">
                  <a:buNone/>
                </a:pPr>
                <a:r>
                  <a:rPr b="1"/>
                  <a:t>In our notation: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 = 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log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 = 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𝜅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m:rPr>
                          <m:nor/>
                        </m:rPr>
                        <a:rPr/>
                        <m:t>with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>
                          <a:latin typeface="Cambria Math" panose="02040503050406030204" pitchFamily="18" charset="0"/>
                        </a:rPr>
                        <m:t>≡1,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log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b="1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35" t="-1307" r="-23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Appendix: Hidaka (2013) in our notation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b="1"/>
                  <a:t>Original.</a:t>
                </a:r>
                <a:r>
                  <a:t> Three families: cumulative (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t>-accumulator at constant rate, AoA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∼</m:t>
                    </m:r>
                    <m:r>
                      <a:rPr>
                        <a:latin typeface="Cambria Math" panose="02040503050406030204" pitchFamily="18" charset="0"/>
                      </a:rPr>
                      <m:t>𝛤</m:t>
                    </m:r>
                  </m:oMath>
                </a14:m>
                <a:r>
                  <a:t>), rate-change (1-accumulator at rate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𝛿</m:t>
                    </m:r>
                    <m:r>
                      <a:rPr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r>
                  <a:t>, AoA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∼</m:t>
                    </m:r>
                  </m:oMath>
                </a14:m>
                <a:r>
                  <a:t> Weibull), and both. </a:t>
                </a:r>
                <a:r>
                  <a:rPr b="1"/>
                  <a:t>Rate-change</a:t>
                </a:r>
                <a:r>
                  <a:t>: ability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∝</m:t>
                    </m:r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t>;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𝐷</m:t>
                    </m:r>
                    <m:r>
                      <a:rPr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t> produces super-linear scaling.</a:t>
                </a:r>
              </a:p>
              <a:p>
                <a:pPr marL="0" lvl="0" indent="0">
                  <a:buNone/>
                </a:pPr>
                <a:r>
                  <a:rPr b="1"/>
                  <a:t>In our notation (rate-change form):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 = 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m:rPr>
                          <m:nor/>
                        </m:rPr>
                        <a:rPr/>
                        <m:t>with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>
                          <a:latin typeface="Cambria Math" panose="02040503050406030204" pitchFamily="18" charset="0"/>
                        </a:rPr>
                        <m:t>+1.</m:t>
                      </m:r>
                    </m:oMath>
                  </m:oMathPara>
                </a14:m>
                <a:endParaRPr b="1"/>
              </a:p>
              <a:p>
                <a:pPr marL="0" lvl="0" indent="0">
                  <a:buNone/>
                </a:pPr>
                <a:r>
                  <a:rPr b="1"/>
                  <a:t>Hidaka’s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𝐷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m:rPr>
                            <m:nor/>
                          </m:rPr>
                          <a:rPr/>
                          <m:t>pop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b="1"/>
                  <a:t> in our notation.</a:t>
                </a:r>
                <a:r>
                  <a:t> His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𝐷</m:t>
                    </m:r>
                    <m:r>
                      <a:rPr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t> is our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m:rPr>
                            <m:nor/>
                          </m:rPr>
                          <a:rPr/>
                          <m:t>pop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t>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35" t="-1307" r="-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Appendix: Mollica &amp; Piantadosi (2017) in our notation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b="1"/>
                  <a:t>Original.</a:t>
                </a:r>
                <a:r>
                  <a:t> Per-word: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t> effective learning instances arrive as Poisson at 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t>; word acquired after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t> events.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AoA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∼</m:t>
                    </m:r>
                    <m:r>
                      <a:rPr>
                        <a:latin typeface="Cambria Math" panose="02040503050406030204" pitchFamily="18" charset="0"/>
                      </a:rPr>
                      <m:t>𝛤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e>
                    </m:d>
                  </m:oMath>
                </a14:m>
                <a:r>
                  <a:t>. For large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t>, Gamma CDF approximates Gaussian (mean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t>) and then a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∼</m:t>
                    </m:r>
                  </m:oMath>
                </a14:m>
                <a:r>
                  <a:t> 1.7-scale logistic.</a:t>
                </a:r>
              </a:p>
              <a:p>
                <a:pPr marL="0" lvl="0" indent="0">
                  <a:buNone/>
                </a:pPr>
                <a:r>
                  <a:rPr b="1"/>
                  <a:t>In our notation: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 = 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m:rPr>
                          <m:nor/>
                        </m:rPr>
                        <a:rPr/>
                        <m:t>with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≡1, 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≈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log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b="1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35" t="-1307" r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Appendix: Kachergis et al. (2021) in our notation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b="1"/>
                  <a:t>Original.</a:t>
                </a:r>
                <a:r>
                  <a:t> 1-PL Rasch IRT with per-child latent ability: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logit</m:t>
                    </m:r>
                    <m:r>
                      <a:rPr>
                        <a:latin typeface="Cambria Math" panose="02040503050406030204" pitchFamily="18" charset="0"/>
                      </a:rPr>
                      <m:t> </m:t>
                    </m:r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𝐻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t>. Per-child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t> free;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t> per-word free; shared age slope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t> across all kids.</a:t>
                </a:r>
              </a:p>
              <a:p>
                <a:pPr marL="0" lvl="0" indent="0">
                  <a:buNone/>
                </a:pPr>
                <a:r>
                  <a:rPr b="1"/>
                  <a:t>In our notation: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 = 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log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log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𝜅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log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m:rPr>
                          <m:nor/>
                        </m:rPr>
                        <a:rPr/>
                        <m:t>with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nor/>
                        </m:rPr>
                        <a:rPr/>
                        <m:t>shared</m:t>
                      </m:r>
                      <m:r>
                        <m:rPr>
                          <m:nor/>
                        </m:rPr>
                        <a:rPr/>
                        <m:t> </m:t>
                      </m:r>
                      <m:r>
                        <m:rPr>
                          <m:nor/>
                        </m:rPr>
                        <a:rPr/>
                        <m:t>population</m:t>
                      </m:r>
                      <m:r>
                        <m:rPr>
                          <m:nor/>
                        </m:rPr>
                        <a:rPr/>
                        <m:t> </m:t>
                      </m:r>
                      <m:r>
                        <m:rPr>
                          <m:nor/>
                        </m:rPr>
                        <a:rPr/>
                        <m:t>slope</m:t>
                      </m:r>
                      <m:r>
                        <a:rPr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b="1"/>
              </a:p>
              <a:p>
                <a:pPr marL="0" lvl="0" indent="0">
                  <a:buNone/>
                </a:pPr>
                <a:r>
                  <a:rPr b="1"/>
                  <a:t>First prior model to free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b="1"/>
                  <a:t>.</a:t>
                </a:r>
                <a:r>
                  <a:t> 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𝜅</m:t>
                        </m:r>
                      </m:sub>
                    </m:sSub>
                  </m:oMath>
                </a14:m>
                <a:r>
                  <a:t> is still zero — every kid has the same scaling slope.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35" t="-13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772B5-A6DD-A9DF-6A59-E824FA2EE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Appendix: </a:t>
            </a:r>
            <a:r>
              <a:rPr lang="en-US" dirty="0" err="1"/>
              <a:t>glmer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927FB-5AE2-9ADA-F13D-F0E0097EA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Quantity	</a:t>
            </a:r>
            <a:r>
              <a:rPr lang="en-US" dirty="0" err="1"/>
              <a:t>glmer</a:t>
            </a:r>
            <a:r>
              <a:rPr lang="en-US" dirty="0"/>
              <a:t>	Stan mean	Stan 95% CI</a:t>
            </a:r>
          </a:p>
          <a:p>
            <a:pPr marL="0" indent="0">
              <a:buNone/>
            </a:pPr>
            <a:r>
              <a:rPr lang="en-US" dirty="0"/>
              <a:t>Fixed </a:t>
            </a:r>
            <a:r>
              <a:rPr lang="en-US" dirty="0" err="1"/>
              <a:t>log_age</a:t>
            </a:r>
            <a:r>
              <a:rPr lang="en-US" dirty="0"/>
              <a:t> slope (</a:t>
            </a:r>
            <a:r>
              <a:rPr lang="el-GR" dirty="0"/>
              <a:t>κ_</a:t>
            </a:r>
            <a:r>
              <a:rPr lang="en-US" dirty="0"/>
              <a:t>pop = 1+</a:t>
            </a:r>
            <a:r>
              <a:rPr lang="el-GR" dirty="0"/>
              <a:t>δ)	11.292	11.308	[11.25, 11.37]</a:t>
            </a:r>
          </a:p>
          <a:p>
            <a:pPr marL="0" indent="0">
              <a:buNone/>
            </a:pPr>
            <a:r>
              <a:rPr lang="en-US" dirty="0" err="1"/>
              <a:t>sd</a:t>
            </a:r>
            <a:r>
              <a:rPr lang="en-US" dirty="0"/>
              <a:t>(Intercept | child) (</a:t>
            </a:r>
            <a:r>
              <a:rPr lang="el-GR" dirty="0" err="1"/>
              <a:t>σ_ξ</a:t>
            </a:r>
            <a:r>
              <a:rPr lang="el-GR" dirty="0"/>
              <a:t>)	1.907	1.891	[1.78, 2.01]</a:t>
            </a:r>
          </a:p>
          <a:p>
            <a:pPr marL="0" indent="0">
              <a:buNone/>
            </a:pPr>
            <a:r>
              <a:rPr lang="en-US" dirty="0" err="1"/>
              <a:t>sd</a:t>
            </a:r>
            <a:r>
              <a:rPr lang="en-US" dirty="0"/>
              <a:t>(</a:t>
            </a:r>
            <a:r>
              <a:rPr lang="en-US" dirty="0" err="1"/>
              <a:t>log_age</a:t>
            </a:r>
            <a:r>
              <a:rPr lang="en-US" dirty="0"/>
              <a:t> | child) (</a:t>
            </a:r>
            <a:r>
              <a:rPr lang="el-GR" dirty="0" err="1"/>
              <a:t>σ_ζ</a:t>
            </a:r>
            <a:r>
              <a:rPr lang="el-GR" dirty="0"/>
              <a:t>)	3.877	3.811	[3.58, 4.07]</a:t>
            </a:r>
          </a:p>
          <a:p>
            <a:pPr marL="0" indent="0">
              <a:buNone/>
            </a:pPr>
            <a:r>
              <a:rPr lang="en-US" dirty="0" err="1"/>
              <a:t>cor</a:t>
            </a:r>
            <a:r>
              <a:rPr lang="en-US" dirty="0"/>
              <a:t>((Int, </a:t>
            </a:r>
            <a:r>
              <a:rPr lang="en-US" dirty="0" err="1"/>
              <a:t>log_age</a:t>
            </a:r>
            <a:r>
              <a:rPr lang="en-US" dirty="0"/>
              <a:t>) | child) (</a:t>
            </a:r>
            <a:r>
              <a:rPr lang="el-GR" dirty="0" err="1"/>
              <a:t>ρ_ξζ</a:t>
            </a:r>
            <a:r>
              <a:rPr lang="el-GR" dirty="0"/>
              <a:t>)	-0.099	-0.094	[-0.18, -0.01]</a:t>
            </a:r>
          </a:p>
          <a:p>
            <a:pPr marL="0" indent="0">
              <a:buNone/>
            </a:pPr>
            <a:r>
              <a:rPr lang="en-US" dirty="0" err="1"/>
              <a:t>sd</a:t>
            </a:r>
            <a:r>
              <a:rPr lang="en-US" dirty="0"/>
              <a:t>(Intercept | word)	1.911	(not in scalar summary)	—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All four </a:t>
            </a:r>
            <a:r>
              <a:rPr lang="en-US" dirty="0" err="1"/>
              <a:t>glmer</a:t>
            </a:r>
            <a:r>
              <a:rPr lang="en-US" dirty="0"/>
              <a:t> estimates fall inside the Stan 95% credible intervals. Implied </a:t>
            </a:r>
            <a:r>
              <a:rPr lang="el-GR" dirty="0" err="1"/>
              <a:t>π_α</a:t>
            </a:r>
            <a:r>
              <a:rPr lang="el-GR" dirty="0"/>
              <a:t> </a:t>
            </a:r>
            <a:r>
              <a:rPr lang="en-US" dirty="0"/>
              <a:t>from </a:t>
            </a:r>
            <a:r>
              <a:rPr lang="en-US" dirty="0" err="1"/>
              <a:t>glmer</a:t>
            </a:r>
            <a:r>
              <a:rPr lang="en-US" dirty="0"/>
              <a:t> + external </a:t>
            </a:r>
            <a:r>
              <a:rPr lang="el-GR" dirty="0"/>
              <a:t>σ_</a:t>
            </a:r>
            <a:r>
              <a:rPr lang="en-US" dirty="0"/>
              <a:t>r=0.534 pin = 0.922 vs Stan posterior 0.920.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M_best</a:t>
            </a:r>
            <a:r>
              <a:rPr lang="en-US" dirty="0"/>
              <a:t> is exactly </a:t>
            </a:r>
            <a:r>
              <a:rPr lang="en-US" dirty="0" err="1"/>
              <a:t>glmer</a:t>
            </a:r>
            <a:r>
              <a:rPr lang="en-US" dirty="0"/>
              <a:t>(produces ~ 1 + </a:t>
            </a:r>
            <a:r>
              <a:rPr lang="en-US" dirty="0" err="1"/>
              <a:t>log_age</a:t>
            </a:r>
            <a:r>
              <a:rPr lang="en-US" dirty="0"/>
              <a:t> + (1 + </a:t>
            </a:r>
            <a:r>
              <a:rPr lang="en-US" dirty="0" err="1"/>
              <a:t>log_age</a:t>
            </a:r>
            <a:r>
              <a:rPr lang="en-US" dirty="0"/>
              <a:t> | child) + (1 | word), family = binomial).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Bayesian wrapper adds the external </a:t>
            </a:r>
            <a:r>
              <a:rPr lang="el-GR" dirty="0"/>
              <a:t>σ_</a:t>
            </a:r>
            <a:r>
              <a:rPr lang="en-US" dirty="0"/>
              <a:t>r pin (which decomposes </a:t>
            </a:r>
            <a:r>
              <a:rPr lang="el-GR" dirty="0" err="1"/>
              <a:t>σ_ξ</a:t>
            </a:r>
            <a:r>
              <a:rPr lang="el-GR" dirty="0"/>
              <a:t> </a:t>
            </a:r>
            <a:r>
              <a:rPr lang="en-US" dirty="0"/>
              <a:t>into </a:t>
            </a:r>
            <a:r>
              <a:rPr lang="el-GR" dirty="0"/>
              <a:t>σ_</a:t>
            </a:r>
            <a:r>
              <a:rPr lang="en-US" dirty="0"/>
              <a:t>r and </a:t>
            </a:r>
            <a:r>
              <a:rPr lang="el-GR" dirty="0" err="1"/>
              <a:t>σ_α</a:t>
            </a:r>
            <a:r>
              <a:rPr lang="el-GR" dirty="0"/>
              <a:t>) </a:t>
            </a:r>
            <a:r>
              <a:rPr lang="en-US" dirty="0"/>
              <a:t>and posterior uncertainty, but the random-effects skeleton is identical.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8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5209</TotalTime>
  <Words>4660</Words>
  <Application>Microsoft Macintosh PowerPoint</Application>
  <PresentationFormat>On-screen Show (16:9)</PresentationFormat>
  <Paragraphs>525</Paragraphs>
  <Slides>62</Slides>
  <Notes>4</Notes>
  <HiddenSlides>12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2" baseType="lpstr">
      <vt:lpstr>Aptos</vt:lpstr>
      <vt:lpstr>Aptos Narrow</vt:lpstr>
      <vt:lpstr>Arial</vt:lpstr>
      <vt:lpstr>Calibri</vt:lpstr>
      <vt:lpstr>Cambria Math</vt:lpstr>
      <vt:lpstr>Courier</vt:lpstr>
      <vt:lpstr>Courier New</vt:lpstr>
      <vt:lpstr>Helvetica</vt:lpstr>
      <vt:lpstr>News Gothic MT</vt:lpstr>
      <vt:lpstr>Office Theme</vt:lpstr>
      <vt:lpstr>Acceleration and variability in vocabulary growth for young children (and language models)</vt:lpstr>
      <vt:lpstr>AI disclosure</vt:lpstr>
      <vt:lpstr>Two views of early word learning</vt:lpstr>
      <vt:lpstr>Exploring signatures of vocabulary growth</vt:lpstr>
      <vt:lpstr>Two signatures of vocabulary growth</vt:lpstr>
      <vt:lpstr>Picking up where George left off…</vt:lpstr>
      <vt:lpstr>Is growth pure accumulation?</vt:lpstr>
      <vt:lpstr>Item response theory (IRT)</vt:lpstr>
      <vt:lpstr>Puzzle: input matters less than supposed</vt:lpstr>
      <vt:lpstr>This work: modeling individual variability</vt:lpstr>
      <vt:lpstr>Building the model</vt:lpstr>
      <vt:lpstr>The accumulator hypothesis</vt:lpstr>
      <vt:lpstr>Rasch model</vt:lpstr>
      <vt:lpstr>Rasch model</vt:lpstr>
      <vt:lpstr>Rasch + accumulator dynamics</vt:lpstr>
      <vt:lpstr>Rasch accumulator + per-child efficiency</vt:lpstr>
      <vt:lpstr>Rasch accumulator + efficiency slope</vt:lpstr>
      <vt:lpstr>Rasch accumulator + per-child efficiency slope</vt:lpstr>
      <vt:lpstr>Rasch – glmer equivalency</vt:lpstr>
      <vt:lpstr>Results: English and Norwegian longitudinal fits</vt:lpstr>
      <vt:lpstr>Data and compute for the longitudinal fits</vt:lpstr>
      <vt:lpstr>PowerPoint Presentation</vt:lpstr>
      <vt:lpstr>Latent ability changes</vt:lpstr>
      <vt:lpstr>N=500 longitudinal data</vt:lpstr>
      <vt:lpstr>Best-fitting model: parameter posteriors</vt:lpstr>
      <vt:lpstr>Exponentially fewer exposures before learning</vt:lpstr>
      <vt:lpstr>Demographic variation across two parameters</vt:lpstr>
      <vt:lpstr>Input quantity</vt:lpstr>
      <vt:lpstr>Where does σ_r come from? The input-rate prior</vt:lpstr>
      <vt:lpstr>Estimating input variation</vt:lpstr>
      <vt:lpstr>Sensitivity: π_α across plausible σ_r</vt:lpstr>
      <vt:lpstr>Caveat: input quantity, not quality</vt:lpstr>
      <vt:lpstr>Extensions: directly observed input and processing</vt:lpstr>
      <vt:lpstr>Model extensions: testing π_α with richer data</vt:lpstr>
      <vt:lpstr>Replicating with directly observed input</vt:lpstr>
      <vt:lpstr>Minimal input effects</vt:lpstr>
      <vt:lpstr>Processing speed readout: Peekbank LWL</vt:lpstr>
      <vt:lpstr>Peekbank RT results</vt:lpstr>
      <vt:lpstr>Good fits</vt:lpstr>
      <vt:lpstr>π_α across five samples</vt:lpstr>
      <vt:lpstr>Connecting to LLMs</vt:lpstr>
      <vt:lpstr>Why look at LLMs?</vt:lpstr>
      <vt:lpstr>Chang &amp; Bergen: Per-word sigmoids in LMs</vt:lpstr>
      <vt:lpstr>Apples-to-apples comparison</vt:lpstr>
      <vt:lpstr>No increases in efficiency for LLMs</vt:lpstr>
      <vt:lpstr>Minimal variance for LLMs (preliminary!)</vt:lpstr>
      <vt:lpstr>Future work?</vt:lpstr>
      <vt:lpstr>Synthesis</vt:lpstr>
      <vt:lpstr>Technical summary</vt:lpstr>
      <vt:lpstr>Two signatures, twin constraints on theory</vt:lpstr>
      <vt:lpstr>Thanks!</vt:lpstr>
      <vt:lpstr>Wordbank Data</vt:lpstr>
      <vt:lpstr>Cross-language acceleration</vt:lpstr>
      <vt:lpstr>Vocabulary growth</vt:lpstr>
      <vt:lpstr>Appendix: per-child trajectories from the best fit</vt:lpstr>
      <vt:lpstr>PowerPoint Presentation</vt:lpstr>
      <vt:lpstr>Appendix: σ_r sensitivity from earlier cross-sectional fits</vt:lpstr>
      <vt:lpstr>Appendix: McMurray (2007) in our notation</vt:lpstr>
      <vt:lpstr>Appendix: Hidaka (2013) in our notation</vt:lpstr>
      <vt:lpstr>Appendix: Mollica &amp; Piantadosi (2017) in our notation</vt:lpstr>
      <vt:lpstr>Appendix: Kachergis et al. (2021) in our notation</vt:lpstr>
      <vt:lpstr>Appendix: glmer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Acceleration and variability in vocabulary growth for young children and language models</dc:title>
  <dc:creator>Michael C. Frank</dc:creator>
  <cp:keywords/>
  <cp:lastModifiedBy>Michael C. Frank</cp:lastModifiedBy>
  <cp:revision>7</cp:revision>
  <cp:lastPrinted>2026-05-26T03:23:20Z</cp:lastPrinted>
  <dcterms:created xsi:type="dcterms:W3CDTF">2026-05-22T21:03:59Z</dcterms:created>
  <dcterms:modified xsi:type="dcterms:W3CDTF">2026-05-26T18:59:11Z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date">
    <vt:lpwstr>2026</vt:lpwstr>
  </property>
  <property fmtid="{D5CDD505-2E9C-101B-9397-08002B2CF9AE}" pid="8" name="date-format">
    <vt:lpwstr>YYYY</vt:lpwstr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institute">
    <vt:lpwstr>Stanford University</vt:lpwstr>
  </property>
  <property fmtid="{D5CDD505-2E9C-101B-9397-08002B2CF9AE}" pid="13" name="institutes">
    <vt:lpwstr/>
  </property>
  <property fmtid="{D5CDD505-2E9C-101B-9397-08002B2CF9AE}" pid="14" name="labels">
    <vt:lpwstr/>
  </property>
  <property fmtid="{D5CDD505-2E9C-101B-9397-08002B2CF9AE}" pid="15" name="toc-title">
    <vt:lpwstr>Table of contents</vt:lpwstr>
  </property>
</Properties>
</file>