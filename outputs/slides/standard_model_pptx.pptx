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9" r:id="rId12"/>
    <p:sldId id="317" r:id="rId13"/>
    <p:sldId id="271" r:id="rId14"/>
    <p:sldId id="273" r:id="rId15"/>
    <p:sldId id="275" r:id="rId16"/>
    <p:sldId id="277" r:id="rId17"/>
    <p:sldId id="287" r:id="rId18"/>
    <p:sldId id="288" r:id="rId19"/>
    <p:sldId id="289" r:id="rId20"/>
    <p:sldId id="290" r:id="rId21"/>
    <p:sldId id="318" r:id="rId22"/>
    <p:sldId id="291" r:id="rId23"/>
    <p:sldId id="292" r:id="rId24"/>
    <p:sldId id="282" r:id="rId25"/>
    <p:sldId id="283" r:id="rId26"/>
    <p:sldId id="284" r:id="rId27"/>
    <p:sldId id="285" r:id="rId28"/>
    <p:sldId id="286" r:id="rId29"/>
    <p:sldId id="293" r:id="rId30"/>
    <p:sldId id="294" r:id="rId31"/>
    <p:sldId id="295" r:id="rId32"/>
    <p:sldId id="297" r:id="rId33"/>
    <p:sldId id="298" r:id="rId34"/>
    <p:sldId id="299" r:id="rId35"/>
    <p:sldId id="300" r:id="rId36"/>
    <p:sldId id="301" r:id="rId37"/>
    <p:sldId id="302" r:id="rId38"/>
    <p:sldId id="303" r:id="rId39"/>
    <p:sldId id="305" r:id="rId40"/>
    <p:sldId id="307" r:id="rId41"/>
    <p:sldId id="308" r:id="rId42"/>
    <p:sldId id="309" r:id="rId43"/>
    <p:sldId id="310" r:id="rId44"/>
    <p:sldId id="311" r:id="rId45"/>
    <p:sldId id="312" r:id="rId46"/>
    <p:sldId id="313" r:id="rId47"/>
    <p:sldId id="314" r:id="rId48"/>
    <p:sldId id="315" r:id="rId49"/>
    <p:sldId id="316" r:id="rId5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3" autoAdjust="0"/>
    <p:restoredTop sz="96055" autoAdjust="0"/>
  </p:normalViewPr>
  <p:slideViewPr>
    <p:cSldViewPr snapToGrid="0" snapToObjects="1">
      <p:cViewPr varScale="1">
        <p:scale>
          <a:sx n="157" d="100"/>
          <a:sy n="157" d="100"/>
        </p:scale>
        <p:origin x="752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468D2-BF3B-E74D-AEA7-6BD00F69ACC5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6C8C8-06DD-9946-B8CF-B9202E80B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87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Comparing two estimates of </a:t>
                </a:r>
                <a:r>
                  <a:rPr lang="en-US" i="1" dirty="0"/>
                  <a:t>ability gained per token of experience</a:t>
                </a:r>
                <a:r>
                  <a:rPr lang="en-US" dirty="0"/>
                  <a:t>: LM scaling laws (Kaplan, Chinchilla compute-optimal, Chinchilla data-bound) all have exponents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0.10,0.28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  <a:r>
                  <a:rPr lang="en-US" dirty="0"/>
                  <a:t>Children’s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pop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two orders of magnitude steeper — a different scaling regime, not a quantitative degree.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Comparing two estimates of </a:t>
                </a:r>
                <a:r>
                  <a:rPr lang="en-US" i="1" dirty="0"/>
                  <a:t>ability gained per token of experience</a:t>
                </a:r>
                <a:r>
                  <a:rPr lang="en-US" dirty="0"/>
                  <a:t>: LM scaling laws (Kaplan, Chinchilla compute-optimal, Chinchilla data-bound) all have exponents </a:t>
                </a:r>
                <a:r>
                  <a:rPr lang="en-US" i="0">
                    <a:latin typeface="Cambria Math" panose="02040503050406030204" pitchFamily="18" charset="0"/>
                  </a:rPr>
                  <a:t>𝛽∈</a:t>
                </a:r>
                <a:r>
                  <a:rPr lang="ar-AE" i="0">
                    <a:latin typeface="Cambria Math" panose="02040503050406030204" pitchFamily="18" charset="0"/>
                  </a:rPr>
                  <a:t>[0.10,0.28]</a:t>
                </a:r>
                <a:r>
                  <a:rPr lang="ar-AE" dirty="0"/>
                  <a:t>. </a:t>
                </a:r>
                <a:r>
                  <a:rPr lang="en-US" dirty="0"/>
                  <a:t>Children’s </a:t>
                </a:r>
                <a:r>
                  <a:rPr lang="ar-AE" i="0">
                    <a:latin typeface="Cambria Math" panose="02040503050406030204" pitchFamily="18" charset="0"/>
                  </a:rPr>
                  <a:t>𝜅_</a:t>
                </a:r>
                <a:r>
                  <a:rPr lang="en-US" i="0">
                    <a:latin typeface="Cambria Math" panose="02040503050406030204" pitchFamily="18" charset="0"/>
                  </a:rPr>
                  <a:t>"</a:t>
                </a:r>
                <a:r>
                  <a:rPr lang="en-US" i="0"/>
                  <a:t>pop</a:t>
                </a:r>
                <a:r>
                  <a:rPr lang="ar-AE" i="0">
                    <a:latin typeface="Cambria Math" panose="02040503050406030204" pitchFamily="18" charset="0"/>
                  </a:rPr>
                  <a:t>" ≈10</a:t>
                </a:r>
                <a:r>
                  <a:rPr lang="ar-AE" dirty="0"/>
                  <a:t> </a:t>
                </a:r>
                <a:r>
                  <a:rPr lang="en-US" dirty="0"/>
                  <a:t>is two orders of magnitude steeper — a different scaling regime, not a quantitative degree.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E6C8C8-06DD-9946-B8CF-B9202E80B01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547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46"/>
            <a:ext cx="9144000" cy="548731"/>
          </a:xfrm>
          <a:prstGeom prst="rect">
            <a:avLst/>
          </a:prstGeom>
        </p:spPr>
        <p:txBody>
          <a:bodyPr/>
          <a:lstStyle>
            <a:lvl1pPr>
              <a:defRPr>
                <a:latin typeface="News Gothic MT" panose="020B0503020103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13678"/>
            <a:ext cx="8229600" cy="3880945"/>
          </a:xfrm>
          <a:prstGeom prst="rect">
            <a:avLst/>
          </a:prstGeom>
        </p:spPr>
        <p:txBody>
          <a:bodyPr/>
          <a:lstStyle>
            <a:lvl1pPr>
              <a:defRPr>
                <a:latin typeface="News Gothic MT" panose="020B0503020103020203" pitchFamily="34" charset="0"/>
              </a:defRPr>
            </a:lvl1pPr>
            <a:lvl2pPr>
              <a:defRPr>
                <a:latin typeface="News Gothic MT" panose="020B0503020103020203" pitchFamily="34" charset="0"/>
              </a:defRPr>
            </a:lvl2pPr>
            <a:lvl3pPr>
              <a:defRPr>
                <a:latin typeface="News Gothic MT" panose="020B0503020103020203" pitchFamily="34" charset="0"/>
              </a:defRPr>
            </a:lvl3pPr>
            <a:lvl4pPr>
              <a:defRPr>
                <a:latin typeface="News Gothic MT" panose="020B0503020103020203" pitchFamily="34" charset="0"/>
              </a:defRPr>
            </a:lvl4pPr>
            <a:lvl5pPr>
              <a:defRPr>
                <a:latin typeface="News Gothic MT" panose="020B0503020103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595"/>
            <a:ext cx="9144000" cy="54728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759417"/>
            <a:ext cx="4038600" cy="3835206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759417"/>
            <a:ext cx="4038600" cy="3835206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18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869576"/>
            <a:ext cx="8229600" cy="3725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News Gothic MT" panose="020B0503020103020203" pitchFamily="34" charset="0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News Gothic MT" panose="020B050302010302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News Gothic MT" panose="020B050302010302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News Gothic MT" panose="020B050302010302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News Gothic MT" panose="020B050302010302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News Gothic MT" panose="020B050302010302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Acceleration and variability in vocabulary growth for young children and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br/>
            <a:br/>
            <a:r>
              <a:t>Michael C. Frank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Vocabulary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Theoretical:</a:t>
            </a:r>
            <a:r>
              <a:rPr dirty="0"/>
              <a:t> Vocabulary is a key nexus of language, social cognition, and conceptual development.</a:t>
            </a:r>
          </a:p>
          <a:p>
            <a:pPr marL="0" lvl="0" indent="0">
              <a:buNone/>
            </a:pPr>
            <a:r>
              <a:rPr b="1" dirty="0"/>
              <a:t>Practical:</a:t>
            </a:r>
            <a:r>
              <a:rPr dirty="0"/>
              <a:t> Variation in vocabulary growth is a key precursor of academic outcomes.</a:t>
            </a:r>
          </a:p>
          <a:p>
            <a:pPr marL="0" lvl="0" indent="0">
              <a:buNone/>
            </a:pPr>
            <a:r>
              <a:rPr b="1" dirty="0"/>
              <a:t>Methodological:</a:t>
            </a:r>
            <a:r>
              <a:rPr dirty="0"/>
              <a:t> Vocabulary count has a property nearly no other psychological metric has: a true zero, so we can explore the psychometrics of learning.</a:t>
            </a:r>
          </a:p>
          <a:p>
            <a:pPr marL="0" lvl="0" indent="0">
              <a:buNone/>
            </a:pPr>
            <a:r>
              <a:rPr b="1" dirty="0"/>
              <a:t>Comparative:</a:t>
            </a:r>
            <a:r>
              <a:rPr dirty="0"/>
              <a:t> We can explore how LLMs relate to children using dense data about child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Wordbank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t>MacArthur–Bates Communicative Development Inventory (CDI): parent-report checklist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t> 680 words.</a:t>
                </a:r>
              </a:p>
              <a:p>
                <a:pPr marL="0" lvl="0" indent="0">
                  <a:buNone/>
                </a:pPr>
                <a:r>
                  <a:t>We focus on production (less noisy).</a:t>
                </a:r>
              </a:p>
              <a:p>
                <a:pPr marL="0" lvl="0" indent="0">
                  <a:buNone/>
                </a:pPr>
                <a:r>
                  <a:rPr b="1"/>
                  <a:t>Wordbank</a:t>
                </a:r>
                <a:r>
                  <a:t>: open repository of CDI administrations.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t> 30 languages,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t> children. We use both:</a:t>
                </a:r>
              </a:p>
              <a:p>
                <a:pPr lvl="0"/>
                <a:r>
                  <a:rPr b="1"/>
                  <a:t>Cross-sectional</a:t>
                </a:r>
                <a:r>
                  <a:t>: one snapshot per child</a:t>
                </a:r>
              </a:p>
              <a:p>
                <a:pPr lvl="0"/>
                <a:r>
                  <a:rPr b="1"/>
                  <a:t>Longitudinal</a:t>
                </a:r>
                <a:r>
                  <a:t>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r>
                  <a:t> admins per child, lets us track per-child growth</a:t>
                </a:r>
              </a:p>
              <a:p>
                <a:pPr marL="0" lvl="0" indent="0">
                  <a:buNone/>
                </a:pPr>
                <a:r>
                  <a:t>Large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, parent-report calibrated to direct testing, cross-linguistically validated.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40" t="-1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precursor_accelerat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Two signatures of vocabulary growth</a:t>
            </a:r>
          </a:p>
        </p:txBody>
      </p:sp>
      <p:pic>
        <p:nvPicPr>
          <p:cNvPr id="7" name="Picture 1" descr="precursor_acceleration.png">
            <a:extLst>
              <a:ext uri="{FF2B5EF4-FFF2-40B4-BE49-F238E27FC236}">
                <a16:creationId xmlns:a16="http://schemas.microsoft.com/office/drawing/2014/main" id="{790469AD-7108-AF08-E103-476786E67C7E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0262" y="802683"/>
            <a:ext cx="5590753" cy="38502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68FB0E-5F6A-7871-FA97-181AE9E7E0E3}"/>
              </a:ext>
            </a:extLst>
          </p:cNvPr>
          <p:cNvSpPr txBox="1"/>
          <p:nvPr/>
        </p:nvSpPr>
        <p:spPr>
          <a:xfrm>
            <a:off x="178025" y="2110085"/>
            <a:ext cx="23871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Acceleration </a:t>
            </a:r>
            <a:r>
              <a:rPr lang="en-US" dirty="0"/>
              <a:t>+ variability are </a:t>
            </a:r>
            <a:r>
              <a:rPr lang="en-US" b="1" dirty="0"/>
              <a:t>ubiquitous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Is growth pure accumulation?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Maybe acceleration just falls out of accumulation?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Each child has input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; word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dirty="0"/>
                  <a:t> has difficulty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dirty="0"/>
                  <a:t>. A word is acquired when enough tokens accumulate.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dirty="0"/>
                  <a:t>Derived from cross-situational word learning and other associative/statistical learning ideas.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In the literature:</a:t>
                </a:r>
              </a:p>
              <a:p>
                <a:pPr lvl="0"/>
                <a:r>
                  <a:rPr dirty="0"/>
                  <a:t>McMurray (2007) — pure rate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time</a:t>
                </a:r>
              </a:p>
              <a:p>
                <a:pPr lvl="0"/>
                <a:r>
                  <a:rPr dirty="0"/>
                  <a:t>Mitchell &amp; McMurray (2009) — + leverage feedback</a:t>
                </a:r>
              </a:p>
              <a:p>
                <a:pPr lvl="0"/>
                <a:r>
                  <a:rPr dirty="0"/>
                  <a:t>Hidaka (2013) — cumulative-Weibull; rate change</a:t>
                </a:r>
              </a:p>
              <a:p>
                <a:pPr lvl="0"/>
                <a:r>
                  <a:rPr dirty="0"/>
                  <a:t>Mollica &amp; Piantadosi (2017) — per-word Gamma</a:t>
                </a:r>
              </a:p>
              <a:p>
                <a:pPr lvl="0"/>
                <a:r>
                  <a:rPr dirty="0" err="1"/>
                  <a:t>Kachergis</a:t>
                </a:r>
                <a:r>
                  <a:rPr dirty="0"/>
                  <a:t> et al. (2021) — IRT Rasch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Acceleration:</a:t>
                </a:r>
                <a:r>
                  <a:rPr dirty="0"/>
                  <a:t> Some models have changes in efficiency to create acceleration, others do not.</a:t>
                </a:r>
              </a:p>
              <a:p>
                <a:pPr marL="0" lvl="0" indent="0">
                  <a:buNone/>
                </a:pPr>
                <a:r>
                  <a:rPr b="1" dirty="0"/>
                  <a:t>Variation:</a:t>
                </a:r>
                <a:r>
                  <a:rPr dirty="0"/>
                  <a:t> Between-child variation only in baseline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). No variation in efficiency.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kachergis_bucket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108200"/>
            <a:ext cx="40386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Item response theory (IRT)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7341" y="859335"/>
                <a:ext cx="4365653" cy="3880945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IRT describes a family of models of binary data (like CDI data).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We use the Rasch model, a logistic model where each item has a single difficulty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dirty="0"/>
                  <a:t>, and each person has a single ability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.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dirty="0"/>
                  <a:t>Probability of success on an item is then just: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=1|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7341" y="859335"/>
                <a:ext cx="4365653" cy="3880945"/>
              </a:xfrm>
              <a:blipFill>
                <a:blip r:embed="rId2"/>
                <a:stretch>
                  <a:fillRect l="-1744" t="-2280" r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36B8191-564F-BF4C-AEA2-DF27C847F32E}"/>
              </a:ext>
            </a:extLst>
          </p:cNvPr>
          <p:cNvGrpSpPr/>
          <p:nvPr/>
        </p:nvGrpSpPr>
        <p:grpSpPr>
          <a:xfrm>
            <a:off x="4975855" y="926607"/>
            <a:ext cx="4257983" cy="3671735"/>
            <a:chOff x="4157871" y="843856"/>
            <a:chExt cx="5667375" cy="5375788"/>
          </a:xfrm>
        </p:grpSpPr>
        <p:pic>
          <p:nvPicPr>
            <p:cNvPr id="5" name="Picture 9">
              <a:extLst>
                <a:ext uri="{FF2B5EF4-FFF2-40B4-BE49-F238E27FC236}">
                  <a16:creationId xmlns:a16="http://schemas.microsoft.com/office/drawing/2014/main" id="{2F5ADB77-48D1-7CE1-591C-887AF701D3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7871" y="843856"/>
              <a:ext cx="5667375" cy="510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582BFF4-E271-5093-A293-7F990B34CB20}"/>
                </a:ext>
              </a:extLst>
            </p:cNvPr>
            <p:cNvSpPr txBox="1"/>
            <p:nvPr/>
          </p:nvSpPr>
          <p:spPr>
            <a:xfrm>
              <a:off x="4810161" y="5814090"/>
              <a:ext cx="3195957" cy="405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News Gothic MT"/>
                </a:rPr>
                <a:t>ICC = item characteristic curve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74014E4-0A19-1759-2212-3FD55103209F}"/>
                </a:ext>
              </a:extLst>
            </p:cNvPr>
            <p:cNvSpPr txBox="1"/>
            <p:nvPr/>
          </p:nvSpPr>
          <p:spPr>
            <a:xfrm>
              <a:off x="7543800" y="4194313"/>
              <a:ext cx="1210176" cy="405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News Gothic MT"/>
                </a:rPr>
                <a:t>(difficulty)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EBA3F86-5947-7851-BA66-7561CBD5E6EB}"/>
              </a:ext>
            </a:extLst>
          </p:cNvPr>
          <p:cNvGrpSpPr/>
          <p:nvPr/>
        </p:nvGrpSpPr>
        <p:grpSpPr>
          <a:xfrm>
            <a:off x="6680998" y="729837"/>
            <a:ext cx="1343278" cy="2823223"/>
            <a:chOff x="6351675" y="784415"/>
            <a:chExt cx="1787902" cy="413348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596E094-FC22-A674-FCFD-5D909BFA1D99}"/>
                </a:ext>
              </a:extLst>
            </p:cNvPr>
            <p:cNvSpPr txBox="1"/>
            <p:nvPr/>
          </p:nvSpPr>
          <p:spPr>
            <a:xfrm>
              <a:off x="6351675" y="784415"/>
              <a:ext cx="1787902" cy="9462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test taker with </a:t>
              </a:r>
              <a:r>
                <a:rPr lang="en-US" sz="1200" dirty="0" err="1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θ</a:t>
              </a:r>
              <a:r>
                <a:rPr lang="en-US" sz="12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=0 has a 50% chance 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1721854-9ADD-42D5-042A-8C19AE606E83}"/>
                </a:ext>
              </a:extLst>
            </p:cNvPr>
            <p:cNvCxnSpPr/>
            <p:nvPr/>
          </p:nvCxnSpPr>
          <p:spPr>
            <a:xfrm flipH="1">
              <a:off x="6991558" y="1580322"/>
              <a:ext cx="254068" cy="333757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P</a:t>
            </a:r>
            <a:r>
              <a:rPr dirty="0"/>
              <a:t>uzzle: input matters less than supposed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accumulator view predicts variation in growth comes from variation in input quantity. </a:t>
                </a:r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Coffey &amp; Snedeker (2026) meta-analyzed 71 studies, 4,760 children:</a:t>
                </a:r>
              </a:p>
              <a:p>
                <a:pPr marL="0" lv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b="1" dirty="0"/>
                  <a:t> of input on outcome = 0.04–0.07.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Caregiver speech quantity explains 4–7% of variance in language outcome — a real but small effect.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Hypothesis:</a:t>
                </a:r>
                <a:r>
                  <a:rPr dirty="0"/>
                  <a:t> Variability comes from </a:t>
                </a:r>
                <a:r>
                  <a:rPr i="1" dirty="0"/>
                  <a:t>how children accelerate</a:t>
                </a:r>
                <a:r>
                  <a:rPr dirty="0"/>
                  <a:t>, not how much input they hear.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40" t="-1987" r="-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BED997F-80A0-E3B7-566C-3D8E92035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341" y="913109"/>
            <a:ext cx="3720459" cy="33172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This work: modeling individual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4400"/>
            <a:ext cx="8229600" cy="3680223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We build a Bayesian model to estimate three things directly:</a:t>
            </a:r>
          </a:p>
          <a:p>
            <a:pPr marL="342900" lvl="0" indent="-342900">
              <a:buAutoNum type="arabicPeriod"/>
            </a:pPr>
            <a:endParaRPr lang="en-US" b="1" dirty="0"/>
          </a:p>
          <a:p>
            <a:pPr marL="342900" lvl="0" indent="-342900">
              <a:buAutoNum type="arabicPeriod"/>
            </a:pPr>
            <a:r>
              <a:rPr lang="en-US" b="1" dirty="0"/>
              <a:t>Efficiency gain</a:t>
            </a:r>
            <a:r>
              <a:rPr b="1" dirty="0"/>
              <a:t>.</a:t>
            </a:r>
            <a:r>
              <a:rPr dirty="0"/>
              <a:t> </a:t>
            </a:r>
            <a:r>
              <a:rPr lang="en-US" dirty="0"/>
              <a:t>Does acceleration result from changes in learning efficiency</a:t>
            </a:r>
            <a:r>
              <a:rPr dirty="0"/>
              <a:t>?</a:t>
            </a:r>
          </a:p>
          <a:p>
            <a:pPr marL="342900" lvl="0" indent="-342900">
              <a:buAutoNum type="arabicPeriod"/>
            </a:pPr>
            <a:r>
              <a:rPr b="1" dirty="0"/>
              <a:t>Variability.</a:t>
            </a:r>
            <a:r>
              <a:rPr dirty="0"/>
              <a:t> Do children differ in </a:t>
            </a:r>
            <a:r>
              <a:rPr i="1" dirty="0"/>
              <a:t>how</a:t>
            </a:r>
            <a:r>
              <a:rPr dirty="0"/>
              <a:t> and </a:t>
            </a:r>
            <a:r>
              <a:rPr i="1" dirty="0"/>
              <a:t>when</a:t>
            </a:r>
            <a:r>
              <a:rPr dirty="0"/>
              <a:t> their growth accelerates, not just in baseline ability?</a:t>
            </a:r>
          </a:p>
          <a:p>
            <a:pPr marL="342900" lvl="0" indent="-342900">
              <a:buAutoNum type="arabicPeriod"/>
            </a:pPr>
            <a:r>
              <a:rPr b="1" dirty="0"/>
              <a:t>Input share.</a:t>
            </a:r>
            <a:r>
              <a:rPr dirty="0"/>
              <a:t> How much of the between-child variance is attributable to input rate, vs. to internal factors like </a:t>
            </a:r>
            <a:r>
              <a:rPr lang="en-US" dirty="0"/>
              <a:t>variation in </a:t>
            </a:r>
            <a:r>
              <a:rPr dirty="0"/>
              <a:t>efficiency?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dirty="0"/>
              <a:t>Does the same machinery applied to large language models yield the same answers? </a:t>
            </a:r>
            <a:endParaRPr lang="en-US" dirty="0"/>
          </a:p>
          <a:p>
            <a:pPr marL="0" lvl="0" indent="0">
              <a:buNone/>
            </a:pPr>
            <a:endParaRPr lang="en-US" b="1" dirty="0"/>
          </a:p>
          <a:p>
            <a:pPr marL="0" lvl="0" indent="0">
              <a:buNone/>
            </a:pPr>
            <a:r>
              <a:rPr b="1" dirty="0"/>
              <a:t>Spoiler</a:t>
            </a:r>
            <a:r>
              <a:rPr dirty="0"/>
              <a:t>: no — LLMs show a categorical disanalogy with children’s</a:t>
            </a:r>
            <a:r>
              <a:rPr lang="en-US" dirty="0"/>
              <a:t> -</a:t>
            </a:r>
            <a:r>
              <a:rPr dirty="0"/>
              <a:t>learning.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Building the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The accumulator hypothesis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The idea.</a:t>
                </a:r>
                <a:r>
                  <a:rPr dirty="0"/>
                  <a:t> Each child accumulates word-evidence at her own input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; word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dirty="0"/>
                  <a:t> is acquired once its difficulty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dirty="0"/>
                  <a:t> is crossed.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Ability scales as a power of input.</a:t>
                </a:r>
                <a:r>
                  <a:rPr dirty="0"/>
                  <a:t> If kids vary only in </a:t>
                </a:r>
                <a:r>
                  <a:rPr i="1" dirty="0"/>
                  <a:t>rate</a:t>
                </a:r>
                <a:r>
                  <a:rPr dirty="0"/>
                  <a:t>, then ability grows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/>
                          <m:t>(</m:t>
                        </m:r>
                        <m:r>
                          <m:rPr>
                            <m:nor/>
                          </m:rPr>
                          <a:rPr/>
                          <m:t>tokens</m:t>
                        </m:r>
                        <m:r>
                          <m:rPr>
                            <m:nor/>
                          </m:rPr>
                          <a:rPr/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dirty="0"/>
                  <a:t> — the pure </a:t>
                </a:r>
                <a:r>
                  <a:rPr i="1" dirty="0"/>
                  <a:t>unit accumulator</a:t>
                </a:r>
                <a:r>
                  <a:rPr dirty="0"/>
                  <a:t>. </a:t>
                </a:r>
                <a:endParaRPr lang="en-US" dirty="0"/>
              </a:p>
              <a:p>
                <a:pPr marL="231775" lvl="0" indent="-231775">
                  <a:buNone/>
                </a:pPr>
                <a:r>
                  <a:rPr lang="en-US" dirty="0"/>
                  <a:t>	</a:t>
                </a:r>
                <a:r>
                  <a:rPr dirty="0"/>
                  <a:t>Between-child differences come only from differences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lang="en-US" b="1" dirty="0"/>
                  <a:t>Model checks:</a:t>
                </a:r>
                <a:endParaRPr b="1" dirty="0"/>
              </a:p>
              <a:p>
                <a:pPr lvl="0"/>
                <a:r>
                  <a:rPr dirty="0"/>
                  <a:t>Is the growth exponent really 1, or steeper?</a:t>
                </a:r>
              </a:p>
              <a:p>
                <a:pPr lvl="0"/>
                <a:r>
                  <a:rPr dirty="0"/>
                  <a:t>Are children all alike except for input rate, or do they also differ in efficiency</a:t>
                </a:r>
                <a:r>
                  <a:rPr lang="en-US" dirty="0"/>
                  <a:t> or</a:t>
                </a:r>
                <a:r>
                  <a:rPr dirty="0"/>
                  <a:t> in growth rate?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627" t="-1987" r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kachergis_bucket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108200"/>
            <a:ext cx="40386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9EFA88C-6105-A2DE-3E63-F090BB195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model: Rasch IRT + accumulator 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r>
                      <a:rPr sz="18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sz="1800"/>
                              <m:t>produces</m:t>
                            </m:r>
                          </m:e>
                          <m:sub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  <m:r>
                      <a:rPr sz="1800">
                        <a:latin typeface="Cambria Math" panose="02040503050406030204" pitchFamily="18" charset="0"/>
                      </a:rPr>
                      <m:t>=</m:t>
                    </m:r>
                    <m:r>
                      <a:rPr sz="180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,</a:t>
                </a:r>
                <a:r>
                  <a:rPr sz="1800" dirty="0"/>
                  <a:t> w</a:t>
                </a:r>
                <a:r>
                  <a:rPr lang="en-US" sz="1800" dirty="0"/>
                  <a:t>here: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tikz_pngs/tikz_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828800"/>
            <a:ext cx="5105400" cy="111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9DF47-0365-C6D3-0D45-F00D4983BDD9}"/>
                  </a:ext>
                </a:extLst>
              </p:cNvPr>
              <p:cNvSpPr txBox="1"/>
              <p:nvPr/>
            </p:nvSpPr>
            <p:spPr>
              <a:xfrm>
                <a:off x="2286000" y="3839356"/>
                <a:ext cx="4572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Standard Rasch IRT model – the substantive content is in 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depends on accumulated experience.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9DF47-0365-C6D3-0D45-F00D4983B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839356"/>
                <a:ext cx="4572000" cy="923330"/>
              </a:xfrm>
              <a:prstGeom prst="rect">
                <a:avLst/>
              </a:prstGeom>
              <a:blipFill>
                <a:blip r:embed="rId4"/>
                <a:stretch>
                  <a:fillRect l="-1111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FBC8A-D7B8-CD68-B885-156497FB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DF50CDB-54DA-52EA-4C39-AB5888103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model: Rasch IRT + accumulator 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3DC948D-C82E-71C9-B589-ED898693D8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r>
                      <a:rPr sz="18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sz="1800"/>
                              <m:t>produces</m:t>
                            </m:r>
                          </m:e>
                          <m:sub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  <m:r>
                      <a:rPr sz="1800">
                        <a:latin typeface="Cambria Math" panose="02040503050406030204" pitchFamily="18" charset="0"/>
                      </a:rPr>
                      <m:t>=</m:t>
                    </m:r>
                    <m:r>
                      <a:rPr sz="180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sz="180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,</a:t>
                </a:r>
                <a:r>
                  <a:rPr sz="1800" dirty="0"/>
                  <a:t> w</a:t>
                </a:r>
                <a:r>
                  <a:rPr lang="en-US" sz="1800" dirty="0"/>
                  <a:t>here: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3DC948D-C82E-71C9-B589-ED898693D8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4856F6-9D94-9AFB-7F61-4EE552C32C48}"/>
                  </a:ext>
                </a:extLst>
              </p:cNvPr>
              <p:cNvSpPr txBox="1"/>
              <p:nvPr/>
            </p:nvSpPr>
            <p:spPr>
              <a:xfrm>
                <a:off x="2286000" y="3839356"/>
                <a:ext cx="4572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Standard Rasch IRT model – the substantive content is in 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depends on accumulated experience.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4856F6-9D94-9AFB-7F61-4EE552C32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839356"/>
                <a:ext cx="4572000" cy="923330"/>
              </a:xfrm>
              <a:prstGeom prst="rect">
                <a:avLst/>
              </a:prstGeom>
              <a:blipFill>
                <a:blip r:embed="rId3"/>
                <a:stretch>
                  <a:fillRect l="-1111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tikz_pngs/tikz_2.png">
            <a:extLst>
              <a:ext uri="{FF2B5EF4-FFF2-40B4-BE49-F238E27FC236}">
                <a16:creationId xmlns:a16="http://schemas.microsoft.com/office/drawing/2014/main" id="{8D9FBB22-03ED-A08F-CE6F-9BA4E2D287D3}"/>
              </a:ext>
            </a:extLst>
          </p:cNvPr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81400" y="1613012"/>
            <a:ext cx="51054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56244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Step 1: pure accumulator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b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tikz_pngs/tikz_2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524000"/>
            <a:ext cx="51054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2D0DF3-C50B-0182-97D9-DDA821BCED8A}"/>
                  </a:ext>
                </a:extLst>
              </p:cNvPr>
              <p:cNvSpPr txBox="1"/>
              <p:nvPr/>
            </p:nvSpPr>
            <p:spPr>
              <a:xfrm>
                <a:off x="457201" y="3117295"/>
                <a:ext cx="4572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Ability = rate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time.</a:t>
                </a:r>
                <a:r>
                  <a:rPr lang="en-US" dirty="0"/>
                  <a:t> The only thing that changes across development is more accumulated input. The only source of variation between children is variation in the input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2D0DF3-C50B-0182-97D9-DDA821BCE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3117295"/>
                <a:ext cx="4572000" cy="1477328"/>
              </a:xfrm>
              <a:prstGeom prst="rect">
                <a:avLst/>
              </a:prstGeom>
              <a:blipFill>
                <a:blip r:embed="rId4"/>
                <a:stretch>
                  <a:fillRect l="-1111" t="-1709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t>Step 2: + per-child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  <a:blipFill>
                <a:blip r:embed="rId2"/>
                <a:stretch>
                  <a:fillRect l="-844"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b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tikz_pngs/tikz_3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612900"/>
            <a:ext cx="51054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280868-C1A0-B89B-067A-4915F46B3D5D}"/>
                  </a:ext>
                </a:extLst>
              </p:cNvPr>
              <p:cNvSpPr txBox="1"/>
              <p:nvPr/>
            </p:nvSpPr>
            <p:spPr>
              <a:xfrm>
                <a:off x="457201" y="2998922"/>
                <a:ext cx="4572000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Each child has a multiplicative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over and above their input rate. </a:t>
                </a:r>
                <a:r>
                  <a:rPr lang="en-US" b="1" dirty="0"/>
                  <a:t>The question we’ll ask of the fit:</a:t>
                </a:r>
                <a:r>
                  <a:rPr lang="en-US" dirty="0"/>
                  <a:t> how much of the between-child variance comes from efficiency vs. input rate? We summarize this share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ar-AE" dirty="0"/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280868-C1A0-B89B-067A-4915F46B3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2998922"/>
                <a:ext cx="4572000" cy="1754326"/>
              </a:xfrm>
              <a:prstGeom prst="rect">
                <a:avLst/>
              </a:prstGeom>
              <a:blipFill>
                <a:blip r:embed="rId5"/>
                <a:stretch>
                  <a:fillRect l="-1111" t="-2878" b="-5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t>Step 3: + population acceleration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  <a:blipFill>
                <a:blip r:embed="rId2"/>
                <a:stretch>
                  <a:fillRect l="-844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b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/>
                                <m:t>pop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tikz_pngs/tikz_4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701800"/>
            <a:ext cx="51054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74F4FB-5AEF-D4DC-F072-77E13136182D}"/>
                  </a:ext>
                </a:extLst>
              </p:cNvPr>
              <p:cNvSpPr txBox="1"/>
              <p:nvPr/>
            </p:nvSpPr>
            <p:spPr>
              <a:xfrm>
                <a:off x="837526" y="2980135"/>
                <a:ext cx="4572000" cy="17919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population accelerates: ability scales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/>
                              <m:t>pop</m:t>
                            </m:r>
                          </m:sub>
                        </m:sSub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super-linearly. All children still share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pop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b="1" dirty="0"/>
                  <a:t>What we’ll ask:</a:t>
                </a:r>
                <a:r>
                  <a:rPr lang="en-US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pop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really above 1 — i.e., does ability grow faster than a unit accumulator predicts? This is Hidaka’s rate-change model.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74F4FB-5AEF-D4DC-F072-77E131361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526" y="2980135"/>
                <a:ext cx="4572000" cy="1791901"/>
              </a:xfrm>
              <a:prstGeom prst="rect">
                <a:avLst/>
              </a:prstGeom>
              <a:blipFill>
                <a:blip r:embed="rId5"/>
                <a:stretch>
                  <a:fillRect l="-1108" t="-1408" b="-4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t>Step 4: + per-child acceleration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1" y="204787"/>
                <a:ext cx="3008313" cy="871538"/>
              </a:xfrm>
              <a:blipFill>
                <a:blip r:embed="rId2"/>
                <a:stretch>
                  <a:fillRect l="-84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/>
                                <m:t>pop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tikz_pngs/tikz_5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625600"/>
            <a:ext cx="51054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F91A02-1E9C-D4C8-C3AA-282393D9FFA3}"/>
                  </a:ext>
                </a:extLst>
              </p:cNvPr>
              <p:cNvSpPr txBox="1"/>
              <p:nvPr/>
            </p:nvSpPr>
            <p:spPr>
              <a:xfrm>
                <a:off x="457201" y="2512454"/>
                <a:ext cx="4572000" cy="23388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Each child has their own growth exponent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pop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b="1" dirty="0"/>
                  <a:t>.</a:t>
                </a:r>
                <a:r>
                  <a:rPr lang="ar-AE" dirty="0"/>
                  <a:t> </a:t>
                </a:r>
                <a:r>
                  <a:rPr lang="en-US" dirty="0"/>
                  <a:t>The new piece: between-child variation isn’t just in baseline ability, but in </a:t>
                </a:r>
                <a:r>
                  <a:rPr lang="en-US" i="1" dirty="0"/>
                  <a:t>how trajectories accelerate</a:t>
                </a:r>
                <a:r>
                  <a:rPr lang="en-US" dirty="0"/>
                  <a:t>. Every prior accumulator model forces every child to share one growth rate. </a:t>
                </a:r>
                <a:r>
                  <a:rPr lang="en-US" b="1" dirty="0"/>
                  <a:t>What we’ll ask:</a:t>
                </a:r>
                <a:r>
                  <a:rPr lang="en-US" dirty="0"/>
                  <a:t> do children really differ in how fast their vocabulary accelerates?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F91A02-1E9C-D4C8-C3AA-282393D9F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2512454"/>
                <a:ext cx="4572000" cy="2338845"/>
              </a:xfrm>
              <a:prstGeom prst="rect">
                <a:avLst/>
              </a:prstGeom>
              <a:blipFill>
                <a:blip r:embed="rId5"/>
                <a:stretch>
                  <a:fillRect l="-1111" t="-1075" b="-2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Results: English and Norwegian longitudinal fits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Data and compute for the longitudinal 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Data.</a:t>
                </a:r>
              </a:p>
              <a:p>
                <a:pPr lvl="0"/>
                <a:r>
                  <a:rPr lang="en-US" b="1" dirty="0"/>
                  <a:t>Reduced English (WS form). </a:t>
                </a:r>
                <a:r>
                  <a:rPr lang="en-US" i="1" dirty="0"/>
                  <a:t>I = </a:t>
                </a:r>
                <a:r>
                  <a:rPr lang="en-US" dirty="0"/>
                  <a:t>200 children, </a:t>
                </a:r>
                <a:r>
                  <a:rPr lang="en-US" i="1" dirty="0"/>
                  <a:t>J = </a:t>
                </a:r>
                <a:r>
                  <a:rPr lang="en-US" dirty="0"/>
                  <a:t>200 words. </a:t>
                </a:r>
                <a:endParaRPr lang="en-US" i="1" dirty="0"/>
              </a:p>
              <a:p>
                <a:pPr lvl="0"/>
                <a:r>
                  <a:rPr b="1" dirty="0"/>
                  <a:t>English.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𝐼</m:t>
                    </m:r>
                    <m:r>
                      <a:rPr>
                        <a:latin typeface="Cambria Math" panose="02040503050406030204" pitchFamily="18" charset="0"/>
                      </a:rPr>
                      <m:t>=500</m:t>
                    </m:r>
                  </m:oMath>
                </a14:m>
                <a:r>
                  <a:rPr dirty="0"/>
                  <a:t> children,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1500 administrations,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𝐽</m:t>
                    </m:r>
                    <m:r>
                      <a:rPr>
                        <a:latin typeface="Cambria Math" panose="02040503050406030204" pitchFamily="18" charset="0"/>
                      </a:rPr>
                      <m:t>=671</m:t>
                    </m:r>
                  </m:oMath>
                </a14:m>
                <a:r>
                  <a:rPr dirty="0"/>
                  <a:t> items (full WS list),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≈1.1</m:t>
                    </m:r>
                  </m:oMath>
                </a14:m>
                <a:r>
                  <a:rPr dirty="0"/>
                  <a:t>M observed responses. Stratified-by-median-age sampling.</a:t>
                </a:r>
              </a:p>
              <a:p>
                <a:pPr lvl="0"/>
                <a:r>
                  <a:rPr b="1" dirty="0"/>
                  <a:t>Norwegian.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𝐼</m:t>
                    </m:r>
                    <m:r>
                      <a:rPr>
                        <a:latin typeface="Cambria Math" panose="02040503050406030204" pitchFamily="18" charset="0"/>
                      </a:rPr>
                      <m:t>=500</m:t>
                    </m:r>
                  </m:oMath>
                </a14:m>
                <a:r>
                  <a:rPr dirty="0"/>
                  <a:t> children,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3000 administrations,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𝐽</m:t>
                    </m:r>
                    <m:r>
                      <a:rPr>
                        <a:latin typeface="Cambria Math" panose="02040503050406030204" pitchFamily="18" charset="0"/>
                      </a:rPr>
                      <m:t>=716</m:t>
                    </m:r>
                  </m:oMath>
                </a14:m>
                <a:r>
                  <a:rPr dirty="0"/>
                  <a:t> items,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≈2.2</m:t>
                    </m:r>
                  </m:oMath>
                </a14:m>
                <a:r>
                  <a:rPr dirty="0"/>
                  <a:t>M responses. Same stratification.</a:t>
                </a:r>
                <a:endParaRPr lang="en-US" dirty="0"/>
              </a:p>
              <a:p>
                <a:pPr lvl="0"/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Model family.</a:t>
                </a:r>
                <a:r>
                  <a:rPr dirty="0"/>
                  <a:t> </a:t>
                </a:r>
                <a:r>
                  <a:rPr lang="en-US" dirty="0"/>
                  <a:t>Four</a:t>
                </a:r>
                <a:r>
                  <a:rPr dirty="0"/>
                  <a:t>-step build run as a sequence of Stan models on each dataset: </a:t>
                </a:r>
                <a:r>
                  <a:rPr dirty="0">
                    <a:latin typeface="Courier"/>
                  </a:rPr>
                  <a:t>pure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 </a:t>
                </a: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Compute.</a:t>
                </a:r>
                <a:r>
                  <a:rPr dirty="0"/>
                  <a:t> </a:t>
                </a:r>
                <a:endParaRPr lang="en-US" dirty="0"/>
              </a:p>
              <a:p>
                <a:r>
                  <a:rPr lang="en-US" dirty="0"/>
                  <a:t>Sherlock for reduced fits. </a:t>
                </a:r>
              </a:p>
              <a:p>
                <a:r>
                  <a:rPr dirty="0"/>
                  <a:t>GCP virtual machine (</a:t>
                </a:r>
                <a:r>
                  <a:rPr dirty="0">
                    <a:latin typeface="Courier"/>
                  </a:rPr>
                  <a:t>n2d-standard-128</a:t>
                </a:r>
                <a:r>
                  <a:rPr dirty="0"/>
                  <a:t>, 64 physical AMD EPYC cores each, 128 GB RAM). Stan with </a:t>
                </a:r>
                <a:r>
                  <a:rPr dirty="0" err="1">
                    <a:latin typeface="Courier"/>
                  </a:rPr>
                  <a:t>reduce_sum</a:t>
                </a:r>
                <a:r>
                  <a:rPr dirty="0"/>
                  <a:t> threading: 4 chains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16 threads/chain saturates the 64 physical cores per machine.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C</a:t>
            </a:r>
            <a:r>
              <a:rPr dirty="0"/>
              <a:t>omparison to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Latent ability changes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B23B-F667-F2F2-5019-BBB1F6F9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N=500 longitudinal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65D39-632F-9C72-F15D-5E48A1DF4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901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Best-fitting model: parameter posteriors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=0.91</m:t>
                    </m:r>
                  </m:oMath>
                </a14:m>
                <a:r>
                  <a:rPr dirty="0"/>
                  <a:t>: efficiency variance dominates input variance.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881" t="-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≈10.4≫1</m:t>
                    </m:r>
                  </m:oMath>
                </a14:m>
                <a:r>
                  <a:rPr dirty="0"/>
                  <a:t>: scaling is wildly super-linear, far from the unit accumulator.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887" t="-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Cross-language acceleration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∼10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b="1"/>
                  <a:t> in both languages</a:t>
                </a:r>
                <a:r>
                  <a:t>,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&gt;1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&gt;0.997</m:t>
                    </m:r>
                  </m:oMath>
                </a14:m>
                <a:r>
                  <a:t>.</a:t>
                </a:r>
              </a:p>
              <a:p>
                <a:pPr marL="0" lvl="0" indent="0">
                  <a:buNone/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b="1"/>
                  <a:t> vs.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b="1"/>
                  <a:t> decomposition is identifiability-dependent.</a:t>
                </a:r>
                <a:r>
                  <a:t> In Norwegian (8 admins/kid), per-child slopes are well-identified — dropping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</a:t>
                </a:r>
                <a:r>
                  <a:rPr i="1"/>
                  <a:t>hurts</a:t>
                </a:r>
                <a:r>
                  <a:t> fit by 235 ELPD. In English (3 admins/kid),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t> pools what Norwegian’s data lets fall into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881" t="-19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b="1"/>
                  <a:t>Reading.</a:t>
                </a:r>
                <a:r>
                  <a:t> The acceleration signature is universal. Its internal parameterization is identifiability-dependent on data density.</a:t>
                </a:r>
              </a:p>
              <a:p>
                <a:pPr marL="0" lvl="0" indent="0">
                  <a:buNone/>
                </a:pPr>
                <a:r>
                  <a:rPr i="1"/>
                  <a:t>In any dense longitudinal sample, between-child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i="1"/>
                  <a:t> spans roughly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i="1"/>
                  <a:t>.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887" t="-198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Input quantity</a:t>
            </a:r>
          </a:p>
        </p:txBody>
      </p:sp>
    </p:spTree>
    <p:extLst>
      <p:ext uri="{BB962C8B-B14F-4D97-AF65-F5344CB8AC3E}">
        <p14:creationId xmlns:p14="http://schemas.microsoft.com/office/powerpoint/2010/main" val="1937895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:r>
                  <a:t>Where does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 come from? The input-rate prior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7647" b="-30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t>The kid-level intercept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has total variance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t> that the data </a:t>
                </a:r>
                <a:r>
                  <a:rPr i="1"/>
                  <a:t>does</a:t>
                </a:r>
                <a:r>
                  <a:t> identify. But the split between input rate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t>) and efficiency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t>) is not separately identified within the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𝜉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 = 1−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/>
              </a:p>
              <a:p>
                <a:pPr marL="0" lvl="0" indent="0">
                  <a:buNone/>
                </a:pPr>
                <a:r>
                  <a:t>We resolve this by pinning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 externally — from data quantifying actual variation in child-directed input rates across families. The model then partitions the data-identified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t> into input and efficiency components.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254" t="-2649" b="-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b="1"/>
                  <a:t>The pin matters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b="1"/>
                  <a:t>.</a:t>
                </a:r>
              </a:p>
              <a:p>
                <a:pPr lvl="0"/>
                <a:r>
                  <a:t>Bigger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t> more variance assigned to input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t> lower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t>.</a:t>
                </a:r>
              </a:p>
              <a:p>
                <a:pPr lvl="0"/>
                <a:r>
                  <a:t>Pinning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 </a:t>
                </a:r>
                <a:r>
                  <a:rPr i="1"/>
                  <a:t>too low</a:t>
                </a:r>
                <a:r>
                  <a:t> would overstate efficiency’s share; </a:t>
                </a:r>
                <a:r>
                  <a:rPr i="1"/>
                  <a:t>too high</a:t>
                </a:r>
                <a:r>
                  <a:t> would mask it.</a:t>
                </a:r>
              </a:p>
              <a:p>
                <a:pPr marL="0" lvl="0" indent="0">
                  <a:buNone/>
                </a:pPr>
                <a:r>
                  <a:rPr b="1"/>
                  <a:t>Strategy.</a:t>
                </a:r>
                <a:r>
                  <a:t> Compile the empirical literature on adult-token rates per child, derive a defensible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, and report a full sensitivity sweep so the headline doesn’t hinge on the central pin.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1572" t="-2649" r="-2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622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Empirical estimates of input-rate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Central pin: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dirty="0"/>
                  <a:t> from the Sperry within-pool. </a:t>
                </a:r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A typical Western child hears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547K adult tokens/month (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±1</m:t>
                    </m:r>
                  </m:oMath>
                </a14:m>
                <a:r>
                  <a:rPr dirty="0"/>
                  <a:t> SD: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320K–960K, a 2.5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spread). </a:t>
                </a:r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The Wordbank CDI:WS sample is overwhelmingly WEIRD, so the cross-cultural 1.24 is an outer bound, not a likely value.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i="1" dirty="0"/>
                  <a:t>Tokens/month = tokens/</a:t>
                </a:r>
                <a:r>
                  <a:rPr i="1" dirty="0" err="1"/>
                  <a:t>hr</a:t>
                </a:r>
                <a:r>
                  <a:rPr i="1"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i="1"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i="1"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  <m:r>
                      <a:rPr>
                        <a:latin typeface="Cambria Math" panose="02040503050406030204" pitchFamily="18" charset="0"/>
                      </a:rPr>
                      <m:t>=365</m:t>
                    </m:r>
                  </m:oMath>
                </a14:m>
                <a:r>
                  <a:rPr i="1" dirty="0"/>
                  <a:t> </a:t>
                </a:r>
                <a:r>
                  <a:rPr i="1" dirty="0" err="1"/>
                  <a:t>hr</a:t>
                </a:r>
                <a:r>
                  <a:rPr i="1" dirty="0"/>
                  <a:t>/</a:t>
                </a:r>
                <a:r>
                  <a:rPr i="1" dirty="0" err="1"/>
                  <a:t>mo</a:t>
                </a:r>
                <a:r>
                  <a:rPr i="1" dirty="0"/>
                  <a:t> (12 waking </a:t>
                </a:r>
                <a:r>
                  <a:rPr i="1" dirty="0" err="1"/>
                  <a:t>hr</a:t>
                </a:r>
                <a:r>
                  <a:rPr i="1" dirty="0"/>
                  <a:t>/day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i="1" dirty="0"/>
                  <a:t> 30.44 days/</a:t>
                </a:r>
                <a:r>
                  <a:rPr i="1" dirty="0" err="1"/>
                  <a:t>mo</a:t>
                </a:r>
                <a:r>
                  <a:rPr i="1" dirty="0"/>
                  <a:t>, model convention).</a:t>
                </a:r>
                <a:br>
                  <a:rPr dirty="0"/>
                </a:br>
                <a:endParaRPr lang="en-US" dirty="0"/>
              </a:p>
              <a:p>
                <a:pPr marL="0" lvl="0" indent="0">
                  <a:buNone/>
                </a:pPr>
                <a:r>
                  <a:rPr b="1" dirty="0"/>
                  <a:t>Sources:</a:t>
                </a:r>
                <a:r>
                  <a:rPr dirty="0"/>
                  <a:t> Sperry et al. 2019, Hart &amp; Risley 1995, </a:t>
                </a:r>
                <a:r>
                  <a:rPr dirty="0" err="1"/>
                  <a:t>Weisleder</a:t>
                </a:r>
                <a:r>
                  <a:rPr dirty="0"/>
                  <a:t> &amp; Fernald 2013, </a:t>
                </a:r>
                <a:r>
                  <a:rPr dirty="0" err="1"/>
                  <a:t>Bergelson</a:t>
                </a:r>
                <a:r>
                  <a:rPr dirty="0"/>
                  <a:t> 2018/2019/2023, Bunce et al. 2024, Casillas 2020/2021, Coffey et al. 2024.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2" t="-2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4355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:r>
                  <a:t>Sensitivity: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t> across plausible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636" b="-3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sigma_r_analytical_sensitivity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=1−</m:t>
                    </m:r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dirty="0"/>
                  <a:t>,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</m:oMath>
                </a14:m>
                <a:r>
                  <a:rPr dirty="0"/>
                  <a:t> fixed at its data-identified posterior.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Central pin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b="1" dirty="0"/>
                  <a:t>: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≈0.91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0.94</m:t>
                    </m:r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Doubled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r>
                  <a:rPr b="1" dirty="0"/>
                  <a:t> (cross-cultural upper bound):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dirty="0"/>
                  <a:t> still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&gt;0.55</m:t>
                    </m:r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Halved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=0.30</m:t>
                    </m:r>
                  </m:oMath>
                </a14:m>
                <a:r>
                  <a:rPr b="1" dirty="0"/>
                  <a:t> (below any defensible single-site SD):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≈0.97</m:t>
                    </m:r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Conclusion.</a:t>
                </a:r>
                <a:r>
                  <a:rPr dirty="0"/>
                  <a:t> The efficiency-dominated decomposition holds across the full range supported by Western input data, and the qualitative answer survives even the cross-cultural upper bound.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943" t="-1656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83480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Caveat: this is about input </a:t>
            </a:r>
            <a:r>
              <a:rPr i="1"/>
              <a:t>quantity</a:t>
            </a:r>
            <a:r>
              <a:t>, not </a:t>
            </a:r>
            <a:r>
              <a:rPr i="1"/>
              <a:t>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What we’ve modeled.</a:t>
                </a:r>
                <a:r>
                  <a:rPr dirty="0"/>
                  <a:t> Variation in input </a:t>
                </a:r>
                <a:r>
                  <a:rPr i="1" dirty="0"/>
                  <a:t>quantity</a:t>
                </a:r>
                <a:r>
                  <a:rPr dirty="0"/>
                  <a:t> — how many adult tokens per hour each child hears. 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What we haven’t modeled.</a:t>
                </a:r>
                <a:r>
                  <a:rPr dirty="0"/>
                  <a:t> Variation in input </a:t>
                </a:r>
                <a:r>
                  <a:rPr i="1" dirty="0"/>
                  <a:t>quality</a:t>
                </a:r>
                <a:r>
                  <a:rPr dirty="0"/>
                  <a:t> — diversity, contingency, conversational structure, child-directed register. 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lvl="0"/>
                <a:r>
                  <a:rPr b="1" dirty="0"/>
                  <a:t>Quality is hard to measure at scale.</a:t>
                </a:r>
                <a:r>
                  <a:rPr dirty="0"/>
                  <a:t> No cross-population benchmark analogous to LENA-style token rates.</a:t>
                </a:r>
              </a:p>
              <a:p>
                <a:pPr lvl="0"/>
                <a:r>
                  <a:rPr b="1" dirty="0"/>
                  <a:t>Quality would have to be enormous to escape the finding.</a:t>
                </a:r>
                <a:r>
                  <a:rPr dirty="0"/>
                  <a:t> A per-child age-varying quality multiplier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/</m:t>
                            </m:r>
                            <m:sSub>
                              <m:sSub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</m:oMath>
                </a14:m>
                <a:r>
                  <a:rPr dirty="0"/>
                  <a:t> is observationally equivalent to a steeper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— so to absorb the observed acceleration, “quality” would need to grow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3{,}000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for the median kid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10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for the 95th percentile between 12 and 30 mo. (See appendix.)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Bottom line.</a:t>
                </a:r>
                <a:r>
                  <a:rPr dirty="0"/>
                  <a:t> Quantity is too small and too well-measured to explain the variability; quality would have to be implausibly large and age-varying to substitute.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09" t="-1961" r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53522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Extensions: directly observed input and processing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</a:t>
                </a:r>
                <a:r>
                  <a:rPr dirty="0"/>
                  <a:t>odel extensions: testing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dirty="0"/>
                  <a:t> with richer data</a:t>
                </a:r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636" b="-3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Wordbank longitudinal fits use </a:t>
                </a:r>
                <a:r>
                  <a:rPr i="1" dirty="0"/>
                  <a:t>population-level</a:t>
                </a:r>
                <a:r>
                  <a:rPr dirty="0"/>
                  <a:t> input rate priors (Sperry/Hart-Risley/</a:t>
                </a:r>
                <a:r>
                  <a:rPr dirty="0" err="1"/>
                  <a:t>Weisleder</a:t>
                </a:r>
                <a:r>
                  <a:rPr dirty="0"/>
                  <a:t>-Fernald). </a:t>
                </a:r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Two natural follow-ups: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Per-child observed input</a:t>
                </a:r>
                <a:r>
                  <a:rPr dirty="0"/>
                  <a:t>: use </a:t>
                </a:r>
                <a:r>
                  <a:rPr i="1" dirty="0"/>
                  <a:t>measured</a:t>
                </a:r>
                <a:r>
                  <a:rPr dirty="0"/>
                  <a:t> per-child input rate instead of a population prior. Does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dirty="0"/>
                  <a:t> stay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0.9 when input is no longer a pooled estimate?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b="1" dirty="0"/>
                  <a:t> BabyView, </a:t>
                </a:r>
                <a:r>
                  <a:rPr b="1" dirty="0" err="1"/>
                  <a:t>SEEDLingS</a:t>
                </a:r>
                <a:r>
                  <a:rPr b="1" dirty="0"/>
                  <a:t>.</a:t>
                </a:r>
                <a:endParaRPr lang="en-US" b="1" dirty="0"/>
              </a:p>
              <a:p>
                <a:pPr marL="342900" lvl="0" indent="-342900">
                  <a:buAutoNum type="arabicPeriod"/>
                </a:pPr>
                <a:endParaRPr b="1"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Per-child processing efficiency</a:t>
                </a:r>
                <a:r>
                  <a:rPr dirty="0"/>
                  <a:t>: link CDI growth to an independent per-child readout of processing speed. Does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dirty="0"/>
                  <a:t> we estimate from CDI reflect “processing efficiency” or something else?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b="1" dirty="0"/>
                  <a:t> Peekbank.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dirty="0"/>
                  <a:t>Both extensions reuse the same model machinery with an added channel in the linear predictor; only the data and the per-child </a:t>
                </a:r>
                <a:r>
                  <a:rPr dirty="0" err="1"/>
                  <a:t>latents</a:t>
                </a:r>
                <a:r>
                  <a:rPr dirty="0"/>
                  <a:t> change.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17" t="-1961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Replicating with directly observed input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167519"/>
                <a:ext cx="4040188" cy="479822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b="1"/>
                  <a:t>BabyView,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b="1"/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167519"/>
                <a:ext cx="4040188" cy="479822"/>
              </a:xfrm>
              <a:blipFill>
                <a:blip r:embed="rId2"/>
                <a:stretch>
                  <a:fillRect l="-940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1" descr="babyview_io_inpu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536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>
              <a:xfrm>
                <a:off x="457200" y="1647340"/>
                <a:ext cx="4040188" cy="2963466"/>
              </a:xfrm>
            </p:spPr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=0.84</m:t>
                    </m:r>
                  </m:oMath>
                </a14:m>
                <a:r>
                  <a:t> ,[0.68, 0.93]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57200" y="1647340"/>
                <a:ext cx="4040188" cy="2963466"/>
              </a:xfrm>
              <a:blipFill>
                <a:blip r:embed="rId4"/>
                <a:stretch>
                  <a:fillRect t="-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4645026" y="1167519"/>
                <a:ext cx="4041775" cy="479822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b="1"/>
                  <a:t>SEEDLingS,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=44</m:t>
                    </m:r>
                  </m:oMath>
                </a14:m>
                <a:r>
                  <a:rPr b="1"/>
                  <a:t> (comp corrected)</a:t>
                </a:r>
              </a:p>
            </p:txBody>
          </p:sp>
        </mc:Choice>
        <mc:Fallback>
          <p:sp>
            <p:nvSpPr>
              <p:cNvPr id="5" name="Tex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4645026" y="1167519"/>
                <a:ext cx="4041775" cy="479822"/>
              </a:xfrm>
              <a:blipFill>
                <a:blip r:embed="rId5"/>
                <a:stretch>
                  <a:fillRect l="-940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1" descr="seedlings_io_input.png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4635500" y="2108536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4645026" y="1647340"/>
                <a:ext cx="4041775" cy="2963466"/>
              </a:xfrm>
            </p:spPr>
            <p:txBody>
              <a:bodyPr/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=0.94</m:t>
                    </m:r>
                  </m:oMath>
                </a14:m>
                <a:r>
                  <a:t> ,[0.89, 0.97]</a:t>
                </a:r>
              </a:p>
            </p:txBody>
          </p:sp>
        </mc:Choice>
        <mc:Fallback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4645026" y="1647340"/>
                <a:ext cx="4041775" cy="2963466"/>
              </a:xfrm>
              <a:blipFill>
                <a:blip r:embed="rId7"/>
                <a:stretch>
                  <a:fillRect t="-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P</a:t>
            </a:r>
            <a:r>
              <a:rPr dirty="0"/>
              <a:t>rocessing</a:t>
            </a:r>
            <a:r>
              <a:rPr lang="en-US" dirty="0"/>
              <a:t> </a:t>
            </a:r>
            <a:r>
              <a:rPr dirty="0"/>
              <a:t>speed readout: Peekbank LWL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Joint model adds a per-child LWL log-RT readout coupled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b="1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𝑟𝑡</m:t>
                        </m:r>
                      </m:sub>
                    </m:sSub>
                  </m:oMath>
                </a14:m>
                <a:r>
                  <a:rPr b="1" dirty="0"/>
                  <a:t>.</a:t>
                </a:r>
                <a:endParaRPr lang="en-US" b="1" dirty="0"/>
              </a:p>
              <a:p>
                <a:pPr marL="0" lvl="0" indent="0">
                  <a:buNone/>
                </a:pPr>
                <a:endParaRPr b="1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𝑟𝑡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dirty="0"/>
                  <a:t> ,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0.046,0.125</m:t>
                        </m:r>
                      </m:e>
                    </m:d>
                  </m:oMath>
                </a14:m>
                <a:r>
                  <a:rPr dirty="0"/>
                  <a:t> — LWL processing speed is real, and bounded above zero.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=0.90</m:t>
                    </m:r>
                  </m:oMath>
                </a14:m>
                <a:r>
                  <a:rPr dirty="0"/>
                  <a:t> ,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0.86,0.94</m:t>
                        </m:r>
                      </m:e>
                    </m:d>
                  </m:oMath>
                </a14:m>
                <a:r>
                  <a:rPr dirty="0"/>
                  <a:t> — replicates within the Peekbank subset.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>
                                <a:latin typeface="Cambria Math" panose="02040503050406030204" pitchFamily="18" charset="0"/>
                              </a:rPr>
                              <m:t>rtslope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=−0.02</m:t>
                    </m:r>
                  </m:oMath>
                </a14:m>
                <a:r>
                  <a:rPr dirty="0"/>
                  <a:t> ,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−0.33,+0.27</m:t>
                        </m:r>
                      </m:e>
                    </m:d>
                  </m:oMath>
                </a14:m>
                <a:r>
                  <a:rPr dirty="0"/>
                  <a:t> — CDI-side and LWL-side growth rates do </a:t>
                </a:r>
                <a:r>
                  <a:rPr i="1" dirty="0"/>
                  <a:t>not</a:t>
                </a:r>
                <a:r>
                  <a:rPr dirty="0"/>
                  <a:t> share variance.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567" t="-2649" r="-2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Two clocks, not one.</a:t>
            </a:r>
            <a:r>
              <a:rPr dirty="0"/>
              <a:t> </a:t>
            </a:r>
            <a:r>
              <a:rPr lang="en-US" dirty="0"/>
              <a:t>A</a:t>
            </a:r>
            <a:r>
              <a:rPr dirty="0"/>
              <a:t>cceleration in vocab growth and the maturation of processing speed are independent maturation processes within the same child — different “efficiency clocks” ticking in parallel.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0" lvl="0" indent="0">
              <a:buNone/>
            </a:pPr>
            <a:r>
              <a:rPr dirty="0"/>
              <a:t>This rules out the simplest unification (“one underlying efficiency axis”); the two readouts each pick up a different developmental process.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t> across five samples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636" b="-3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Connecting to LLMs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Why look at LLMs?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LLMs and children both learn word meanings from input. They differ in scale and architecture, but the question of how their learning scales with input is statistically well-posed:</a:t>
                </a: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lvl="0"/>
                <a:r>
                  <a:rPr dirty="0"/>
                  <a:t>For an LM and a word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dirty="0"/>
                  <a:t>, we have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m:rPr>
                            <m:nor/>
                          </m:rPr>
                          <a:rPr/>
                          <m:t> </m:t>
                        </m:r>
                        <m:r>
                          <m:rPr>
                            <m:nor/>
                          </m:rPr>
                          <a:rPr/>
                          <m:t>produced</m:t>
                        </m:r>
                        <m:r>
                          <m:rPr>
                            <m:nor/>
                          </m:rPr>
                          <a:rPr/>
                          <m:t> </m:t>
                        </m:r>
                        <m:r>
                          <m:rPr>
                            <m:nor/>
                          </m:rPr>
                          <a:rPr/>
                          <m:t>correctly</m:t>
                        </m:r>
                      </m:e>
                    </m:d>
                  </m:oMath>
                </a14:m>
                <a:r>
                  <a:rPr dirty="0"/>
                  <a:t> as a function of training tokens.</a:t>
                </a:r>
              </a:p>
              <a:p>
                <a:pPr lvl="0"/>
                <a:r>
                  <a:rPr dirty="0"/>
                  <a:t>This is a sigmoid in log-tokens with a per-word slope.</a:t>
                </a:r>
              </a:p>
              <a:p>
                <a:pPr lvl="0"/>
                <a:r>
                  <a:rPr dirty="0"/>
                  <a:t>The same statistic exists for human children: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m:rPr>
                            <m:nor/>
                          </m:rPr>
                          <a:rPr/>
                          <m:t> </m:t>
                        </m:r>
                        <m:r>
                          <m:rPr>
                            <m:nor/>
                          </m:rPr>
                          <a:rPr/>
                          <m:t>acquired</m:t>
                        </m:r>
                      </m:e>
                    </m:d>
                  </m:oMath>
                </a14:m>
                <a:r>
                  <a:rPr dirty="0"/>
                  <a:t> as a function of cumulative input.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This lets us put kids and LMs on the same axis</a:t>
                </a:r>
                <a:r>
                  <a:rPr lang="en-US" dirty="0"/>
                  <a:t>:</a:t>
                </a:r>
                <a:endParaRPr dirty="0"/>
              </a:p>
              <a:p>
                <a:pPr marL="342900" lvl="0" indent="-342900">
                  <a:buAutoNum type="arabicPeriod"/>
                </a:pPr>
                <a:r>
                  <a:rPr dirty="0"/>
                  <a:t>Do kids and LMs have similar per-word acquisition slopes?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Does a model that fits kids’ learning say anything about LMs?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2" t="-2614" r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P</a:t>
            </a:r>
            <a:r>
              <a:rPr dirty="0"/>
              <a:t>er-word </a:t>
            </a:r>
            <a:r>
              <a:rPr dirty="0" err="1"/>
              <a:t>sigmoids</a:t>
            </a:r>
            <a:r>
              <a:rPr dirty="0"/>
              <a:t> in LMs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Setup.</a:t>
                </a:r>
                <a:r>
                  <a:rPr lang="en-US" dirty="0"/>
                  <a:t> Chang &amp; Bergen trained four LMs (BERT, </a:t>
                </a:r>
                <a:r>
                  <a:rPr lang="en-US" dirty="0" err="1"/>
                  <a:t>biLSTM</a:t>
                </a:r>
                <a:r>
                  <a:rPr lang="en-US" dirty="0"/>
                  <a:t>, GPT-2, LSTM) on the same input corpus. At each training checkpoint, they probed each CDI words to get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word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produced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correctly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/>
                          <m:t>checkpoint</m:t>
                        </m:r>
                      </m:e>
                    </m:d>
                  </m:oMath>
                </a14:m>
                <a:r>
                  <a:rPr lang="ar-AE" dirty="0"/>
                  <a:t>.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For each (LM, word) they fit a 4-parameter logistic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lower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upper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lower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mid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scale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training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steps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yielding a per-word </a:t>
                </a:r>
                <a:r>
                  <a:rPr lang="en-US" b="1" dirty="0"/>
                  <a:t>scaling slope</a:t>
                </a:r>
                <a:r>
                  <a:rPr lang="en-US" dirty="0"/>
                  <a:t>: how fast that word’s acquisition probability rises with cumulative training. After unit conversion, this is exactly analogous to 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for children.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r>
                  <a:rPr lang="en-US" b="1" dirty="0"/>
                  <a:t>Result they reported.</a:t>
                </a:r>
                <a:r>
                  <a:rPr lang="en-US" dirty="0"/>
                  <a:t> Across the four LMs, mean per-word slope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lang="en-US" dirty="0"/>
                  <a:t> logit per </a:t>
                </a:r>
                <a:r>
                  <a:rPr lang="en-US" dirty="0" err="1"/>
                  <a:t>nat</a:t>
                </a:r>
                <a:r>
                  <a:rPr lang="en-US" dirty="0"/>
                  <a:t>-log training-step. Striking but ambiguous: is this the LM architecture or the input distribution?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09" t="-6209" r="-3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8D5CF21-AAA8-06F3-A470-59070B0CA2CC}"/>
              </a:ext>
            </a:extLst>
          </p:cNvPr>
          <p:cNvSpPr txBox="1"/>
          <p:nvPr/>
        </p:nvSpPr>
        <p:spPr>
          <a:xfrm>
            <a:off x="6853954" y="4774168"/>
            <a:ext cx="235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 &amp; Bergen (2022)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Could the gap be an input-distribution artifact?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Test:</a:t>
                </a:r>
                <a:r>
                  <a:rPr dirty="0"/>
                  <a:t> retrain GPT-2 small on CHILDES (the corpus kids actually hear, per Feng et al. 2026), keep everything else fixed, refit C&amp;B’s per-word sigmoid. If the gap is input-driven, CHILDES-trained slopes should rise toward children.</a:t>
                </a:r>
              </a:p>
              <a:p>
                <a:pPr marL="0" lvl="0" indent="0">
                  <a:buNone/>
                </a:pPr>
                <a:endParaRPr lang="en-US" b="1" dirty="0"/>
              </a:p>
              <a:p>
                <a:pPr marL="0" lvl="0" indent="0">
                  <a:buNone/>
                </a:pPr>
                <a:r>
                  <a:rPr b="1" dirty="0"/>
                  <a:t>Setup:</a:t>
                </a:r>
              </a:p>
              <a:p>
                <a:pPr lvl="0"/>
                <a:r>
                  <a:rPr dirty="0"/>
                  <a:t>GPT-2 small (124M params, 12L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768d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12h)</a:t>
                </a:r>
              </a:p>
              <a:p>
                <a:pPr lvl="0"/>
                <a:r>
                  <a:rPr dirty="0"/>
                  <a:t>CHILDES train split,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dirty="0"/>
                  <a:t> 24.5M tokens, 20 epochs (Feng et al. §B spec)</a:t>
                </a:r>
              </a:p>
              <a:p>
                <a:pPr lvl="0"/>
                <a:r>
                  <a:rPr dirty="0"/>
                  <a:t>3 random seeds ({0, 42, 123}) as a between-instance variance probe</a:t>
                </a:r>
              </a:p>
              <a:p>
                <a:pPr lvl="0"/>
                <a:r>
                  <a:rPr dirty="0"/>
                  <a:t>73 log-spaced eval checkpoints; per-word mean NLL over 50 occurrences in the CHILDES validation set</a:t>
                </a:r>
              </a:p>
              <a:p>
                <a:pPr lvl="0"/>
                <a:r>
                  <a:rPr dirty="0"/>
                  <a:t>C&amp;B 4-parameter logistic fit per (LM, word); per-word slope =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0.434/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ParamScale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dirty="0"/>
              </a:p>
              <a:p>
                <a:pPr lvl="0"/>
                <a:r>
                  <a:rPr dirty="0"/>
                  <a:t>609 / 611 C&amp;B CDI words are single tokens in the GPT2-CHILDES BPE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3" t="-1961" r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CDS training does not move the LM slope</a:t>
            </a:r>
          </a:p>
        </p:txBody>
      </p:sp>
      <p:pic>
        <p:nvPicPr>
          <p:cNvPr id="3" name="Picture 1" descr="feng_chang_bergen_slope_comparis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The aggregate view: scaling laws</a:t>
            </a:r>
          </a:p>
        </p:txBody>
      </p:sp>
      <p:pic>
        <p:nvPicPr>
          <p:cNvPr id="3" name="Picture 1" descr="D1_scaling_disanalogy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9011" y="837756"/>
            <a:ext cx="8205978" cy="41029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Synthesis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Technical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lvl="0"/>
                <a:r>
                  <a:rPr b="1" dirty="0"/>
                  <a:t>Acceleration is real and population-level.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r>
                  <a:rPr dirty="0"/>
                  <a:t>, confidently above the unit-accumulator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dirty="0"/>
                  <a:t>. The first prior model to free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</m:oMath>
                </a14:m>
                <a:r>
                  <a:rPr dirty="0"/>
                  <a:t> (Hidaka rate-change) was structurally right.</a:t>
                </a:r>
              </a:p>
              <a:p>
                <a:pPr lvl="0"/>
                <a:r>
                  <a:rPr b="1" dirty="0"/>
                  <a:t>Individual variability in acceleration is real too.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𝜁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dirty="0"/>
                  <a:t>: children differ not just in baseline ability, but in </a:t>
                </a:r>
                <a:r>
                  <a:rPr i="1" dirty="0"/>
                  <a:t>how their trajectories accelerate</a:t>
                </a:r>
                <a:r>
                  <a:rPr dirty="0"/>
                  <a:t> and </a:t>
                </a:r>
                <a:r>
                  <a:rPr i="1" dirty="0"/>
                  <a:t>when</a:t>
                </a:r>
                <a:r>
                  <a:rPr dirty="0"/>
                  <a:t>. No prior accumulator model frees these.</a:t>
                </a:r>
              </a:p>
              <a:p>
                <a:pPr lvl="0"/>
                <a:r>
                  <a:rPr b="1" dirty="0"/>
                  <a:t>Input quantity is a small share of between-child variance.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≈0.91</m:t>
                    </m:r>
                  </m:oMath>
                </a14:m>
                <a:r>
                  <a:rPr dirty="0"/>
                  <a:t> across 5 samples. Aligns with the meta-analytic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=0.04</m:t>
                    </m:r>
                  </m:oMath>
                </a14:m>
                <a:r>
                  <a:rPr dirty="0"/>
                  <a:t>–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0.07</m:t>
                    </m:r>
                  </m:oMath>
                </a14:m>
                <a:r>
                  <a:rPr dirty="0"/>
                  <a:t> of Coffey &amp; Snedeker (2026).</a:t>
                </a:r>
              </a:p>
              <a:p>
                <a:pPr lvl="0"/>
                <a:r>
                  <a:rPr b="1" dirty="0"/>
                  <a:t>LLMs are structurally different.</a:t>
                </a:r>
                <a:r>
                  <a:rPr dirty="0"/>
                  <a:t> Same per-word sigmoid statistic gives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𝜅</m:t>
                    </m:r>
                    <m:r>
                      <a:rPr>
                        <a:latin typeface="Cambria Math" panose="02040503050406030204" pitchFamily="18" charset="0"/>
                      </a:rPr>
                      <m:t>∼1</m:t>
                    </m:r>
                  </m:oMath>
                </a14:m>
                <a:r>
                  <a:rPr dirty="0"/>
                  <a:t> for LMs vs. 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∼10</m:t>
                    </m:r>
                  </m:oMath>
                </a14:m>
                <a:r>
                  <a:rPr dirty="0"/>
                  <a:t> for children — a 10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dirty="0"/>
                  <a:t> gap with near-zero between-instance variance in LMs.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7" t="-2614" r="-1080" b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Two signatures, twin constraints on theory</a:t>
            </a:r>
          </a:p>
        </p:txBody>
      </p:sp>
      <p:pic>
        <p:nvPicPr>
          <p:cNvPr id="3" name="Picture 1" descr="precursor_accelera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4" name="Picture 1" descr="precursor_variability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Appendix: per-child trajectories from the best fit</a:t>
            </a:r>
          </a:p>
        </p:txBody>
      </p:sp>
      <p:pic>
        <p:nvPicPr>
          <p:cNvPr id="3" name="Picture 1" descr="m_best_spaghett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120 kids sampled from the best-fitting model’s posterior. </a:t>
                </a:r>
                <a:r>
                  <a:rPr b="1"/>
                  <a:t>Left:</a:t>
                </a:r>
                <a:r>
                  <a:t> latent ability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t> (logit). </a:t>
                </a:r>
                <a:r>
                  <a:rPr b="1"/>
                  <a:t>Right:</a:t>
                </a:r>
                <a:r>
                  <a:t> predicted vocabulary. Concave-up shape = super-linear signature; fan width = between-child variability.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5" t="-1307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:r>
                  <a:t>Appendix: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t> sensitivity from earlier cross-sectional fits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7647" b="-30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quality_multiplier_implied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/>
                  <a:t>Reviewer reflex.</a:t>
                </a:r>
                <a:r>
                  <a:t> “Maybe kids’ tokens differ in </a:t>
                </a:r>
                <a:r>
                  <a:rPr i="1"/>
                  <a:t>quality</a:t>
                </a:r>
                <a:r>
                  <a:t>, and that’s what looks like acceleration.”</a:t>
                </a:r>
              </a:p>
              <a:p>
                <a:pPr marL="0" lvl="0" indent="0">
                  <a:buNone/>
                </a:pPr>
                <a:r>
                  <a:rPr b="1"/>
                  <a:t>Structural answer.</a:t>
                </a:r>
                <a:r>
                  <a:t> Per-child age-varying quality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/</m:t>
                            </m:r>
                            <m:sSub>
                              <m:sSub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</m:oMath>
                </a14:m>
                <a:r>
                  <a:t> on input is observationally equivalent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t>.</a:t>
                </a:r>
              </a:p>
              <a:p>
                <a:pPr marL="0" lvl="0" indent="0">
                  <a:buNone/>
                </a:pPr>
                <a:r>
                  <a:rPr b="1"/>
                  <a:t>Implication.</a:t>
                </a:r>
                <a:r>
                  <a:t> Quality cannot escape acceleration — it </a:t>
                </a:r>
                <a:r>
                  <a:rPr i="1"/>
                  <a:t>relabels</a:t>
                </a:r>
                <a:r>
                  <a:t> it. For the median kid, “quality” would have to grow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∼3,000</m:t>
                    </m:r>
                    <m:r>
                      <a:rPr>
                        <a:latin typeface="Cambria Math" panose="02040503050406030204" pitchFamily="18" charset="0"/>
                      </a:rPr>
                      <m:t>​</m:t>
                    </m:r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t> from age 12 to 30 mo. For the 95th percentile kid,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t>. Implausible as a substantive quality story.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1572" t="-2649" r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Appendix: McMurray (2007) in our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b="1"/>
                  <a:t>Original.</a:t>
                </a:r>
                <a:r>
                  <a:t> Each word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t> has threshold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t>; deterministic step at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. Vocabulary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t> (CDF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t>). Acceleration requires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′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 over the productive window.</a:t>
                </a:r>
              </a:p>
              <a:p>
                <a:pPr marL="0" lvl="0" indent="0">
                  <a:buNone/>
                </a:pPr>
                <a:r>
                  <a:rPr b="1"/>
                  <a:t>In our notation: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𝜅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/>
                        <m:t>with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>
                          <a:latin typeface="Cambria Math" panose="02040503050406030204" pitchFamily="18" charset="0"/>
                        </a:rPr>
                        <m:t>≡1,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b="1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5" t="-1307" r="-23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Appendix: Hidaka (2013) in our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b="1"/>
                  <a:t>Original.</a:t>
                </a:r>
                <a:r>
                  <a:t> Three families: cumulative (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-accumulator at constant rate, AoA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𝛤</m:t>
                    </m:r>
                  </m:oMath>
                </a14:m>
                <a:r>
                  <a:t>), rate-change (1-accumulator at rate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𝛿</m:t>
                    </m:r>
                    <m:r>
                      <a:rPr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t>, AoA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t> Weibull), and both. </a:t>
                </a:r>
                <a:r>
                  <a:rPr b="1"/>
                  <a:t>Rate-change</a:t>
                </a:r>
                <a:r>
                  <a:t>: ability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t>;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 produces super-linear scaling.</a:t>
                </a:r>
              </a:p>
              <a:p>
                <a:pPr marL="0" lvl="0" indent="0">
                  <a:buNone/>
                </a:pPr>
                <a:r>
                  <a:rPr b="1"/>
                  <a:t>In our notation (rate-change form):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/>
                        <m:t>with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>
                          <a:latin typeface="Cambria Math" panose="02040503050406030204" pitchFamily="18" charset="0"/>
                        </a:rPr>
                        <m:t>+1.</m:t>
                      </m:r>
                    </m:oMath>
                  </m:oMathPara>
                </a14:m>
                <a:endParaRPr b="1"/>
              </a:p>
              <a:p>
                <a:pPr marL="0" lvl="0" indent="0">
                  <a:buNone/>
                </a:pPr>
                <a:r>
                  <a:rPr b="1"/>
                  <a:t>Hidaka’s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b="1"/>
                  <a:t> in our notation.</a:t>
                </a:r>
                <a:r>
                  <a:t> His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 is 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m:rPr>
                            <m:nor/>
                          </m:rPr>
                          <a:rPr/>
                          <m:t>pop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5" t="-1307" r="-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Appendix: Mollica &amp; Piantadosi (2017) in our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b="1"/>
                  <a:t>Original.</a:t>
                </a:r>
                <a:r>
                  <a:t> Per-word: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 effective learning instances arrive as Poisson at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; word acquired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 events.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AoA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𝛤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t>. For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, Gamma CDF approximates Gaussian (mean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t>) and then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t> 1.7-scale logistic.</a:t>
                </a:r>
              </a:p>
              <a:p>
                <a:pPr marL="0" lvl="0" indent="0">
                  <a:buNone/>
                </a:pPr>
                <a:r>
                  <a:rPr b="1"/>
                  <a:t>In our notation: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/>
                        <m:t>with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≡1, 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b="1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5" t="-1307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Appendix: Kachergis et al. (2021) in our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b="1"/>
                  <a:t>Original.</a:t>
                </a:r>
                <a:r>
                  <a:t> 1-PL Rasch IRT with per-child latent ability: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logit</m:t>
                    </m:r>
                    <m:r>
                      <a:rPr>
                        <a:latin typeface="Cambria Math" panose="02040503050406030204" pitchFamily="18" charset="0"/>
                      </a:rPr>
                      <m:t> 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t>. Per-child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free;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t> per-word free; shared age slope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t> across all kids.</a:t>
                </a:r>
              </a:p>
              <a:p>
                <a:pPr marL="0" lvl="0" indent="0">
                  <a:buNone/>
                </a:pPr>
                <a:r>
                  <a:rPr b="1"/>
                  <a:t>In our notation: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𝜅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/>
                        <m:t>with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nor/>
                        </m:rPr>
                        <a:rPr/>
                        <m:t>shared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population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slope</m:t>
                      </m:r>
                      <m:r>
                        <a:rPr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b="1"/>
              </a:p>
              <a:p>
                <a:pPr marL="0" lvl="0" indent="0">
                  <a:buNone/>
                </a:pPr>
                <a:r>
                  <a:rPr b="1"/>
                  <a:t>First prior model to free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b="1"/>
                  <a:t>.</a:t>
                </a:r>
                <a:r>
                  <a:t>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𝜅</m:t>
                        </m:r>
                      </m:sub>
                    </m:sSub>
                  </m:oMath>
                </a14:m>
                <a:r>
                  <a:t> is still zero — every kid has the same scaling slope.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5" t="-1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784</TotalTime>
  <Words>3284</Words>
  <Application>Microsoft Macintosh PowerPoint</Application>
  <PresentationFormat>On-screen Show (16:9)</PresentationFormat>
  <Paragraphs>242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Arial</vt:lpstr>
      <vt:lpstr>Calibri</vt:lpstr>
      <vt:lpstr>Cambria Math</vt:lpstr>
      <vt:lpstr>Courier</vt:lpstr>
      <vt:lpstr>News Gothic MT</vt:lpstr>
      <vt:lpstr>Office Theme</vt:lpstr>
      <vt:lpstr>Acceleration and variability in vocabulary growth for young children and language models</vt:lpstr>
      <vt:lpstr>Vocabulary growth</vt:lpstr>
      <vt:lpstr>Wordbank Data</vt:lpstr>
      <vt:lpstr>Two signatures of vocabulary growth</vt:lpstr>
      <vt:lpstr>Is growth pure accumulation?</vt:lpstr>
      <vt:lpstr>Item response theory (IRT)</vt:lpstr>
      <vt:lpstr>Puzzle: input matters less than supposed</vt:lpstr>
      <vt:lpstr>This work: modeling individual variability</vt:lpstr>
      <vt:lpstr>Building the model</vt:lpstr>
      <vt:lpstr>The accumulator hypothesis</vt:lpstr>
      <vt:lpstr>The model: Rasch IRT + accumulator dynamics</vt:lpstr>
      <vt:lpstr>The model: Rasch IRT + accumulator dynamics</vt:lpstr>
      <vt:lpstr>Step 1: pure accumulator</vt:lpstr>
      <vt:lpstr>Step 2: + per-child efficiency α_i</vt:lpstr>
      <vt:lpstr>Step 3: + population acceleration κ_"pop" </vt:lpstr>
      <vt:lpstr>Step 4: + per-child acceleration ζ_i</vt:lpstr>
      <vt:lpstr>Results: English and Norwegian longitudinal fits</vt:lpstr>
      <vt:lpstr>Data and compute for the longitudinal fits</vt:lpstr>
      <vt:lpstr>Comparison to data</vt:lpstr>
      <vt:lpstr>Latent ability changes</vt:lpstr>
      <vt:lpstr>N=500 longitudinal data</vt:lpstr>
      <vt:lpstr>Best-fitting model: parameter posteriors</vt:lpstr>
      <vt:lpstr>Cross-language acceleration</vt:lpstr>
      <vt:lpstr>Input quantity</vt:lpstr>
      <vt:lpstr>Where does σ_r come from? The input-rate prior</vt:lpstr>
      <vt:lpstr>Empirical estimates of input-rate variation</vt:lpstr>
      <vt:lpstr>Sensitivity: π_α across plausible σ_r</vt:lpstr>
      <vt:lpstr>Caveat: this is about input quantity, not quality</vt:lpstr>
      <vt:lpstr>Extensions: directly observed input and processing</vt:lpstr>
      <vt:lpstr>Model extensions: testing π_α with richer data</vt:lpstr>
      <vt:lpstr>Replicating with directly observed input</vt:lpstr>
      <vt:lpstr>Processing speed readout: Peekbank LWL</vt:lpstr>
      <vt:lpstr>π_α across five samples</vt:lpstr>
      <vt:lpstr>Connecting to LLMs</vt:lpstr>
      <vt:lpstr>Why look at LLMs?</vt:lpstr>
      <vt:lpstr>Per-word sigmoids in LMs</vt:lpstr>
      <vt:lpstr>Could the gap be an input-distribution artifact?</vt:lpstr>
      <vt:lpstr>CDS training does not move the LM slope</vt:lpstr>
      <vt:lpstr>The aggregate view: scaling laws</vt:lpstr>
      <vt:lpstr>Synthesis</vt:lpstr>
      <vt:lpstr>Technical summary</vt:lpstr>
      <vt:lpstr>Two signatures, twin constraints on theory</vt:lpstr>
      <vt:lpstr>Appendix: per-child trajectories from the best fit</vt:lpstr>
      <vt:lpstr>PowerPoint Presentation</vt:lpstr>
      <vt:lpstr>Appendix: σ_r sensitivity from earlier cross-sectional fits</vt:lpstr>
      <vt:lpstr>Appendix: McMurray (2007) in our notation</vt:lpstr>
      <vt:lpstr>Appendix: Hidaka (2013) in our notation</vt:lpstr>
      <vt:lpstr>Appendix: Mollica &amp; Piantadosi (2017) in our notation</vt:lpstr>
      <vt:lpstr>Appendix: Kachergis et al. (2021) in our notation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Acceleration and variability in vocabulary growth for young children and language models</dc:title>
  <dc:creator>Michael C. Frank</dc:creator>
  <cp:keywords/>
  <cp:lastModifiedBy>Michael C. Frank</cp:lastModifiedBy>
  <cp:revision>3</cp:revision>
  <dcterms:created xsi:type="dcterms:W3CDTF">2026-05-22T21:03:59Z</dcterms:created>
  <dcterms:modified xsi:type="dcterms:W3CDTF">2026-05-23T17:13:50Z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</vt:lpwstr>
  </property>
  <property fmtid="{D5CDD505-2E9C-101B-9397-08002B2CF9AE}" pid="8" name="date-format">
    <vt:lpwstr>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Stanford University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